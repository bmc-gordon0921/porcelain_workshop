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大家好，今天展示的作品是 Terra，景德镇瓷器之旅。它是一款可以直接在浏览器中打开的轻量手作游戏。我们想尝试的事情很具体：让玩家不是只看一张瓷器图片，而是沿着景德镇的地点故事，亲手完成塑形、上色和烧窑，再把每一站变成一件可以收藏的成品。接下来我会介绍设计思路、核心交互以及目前的实现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次设计没有从堆砌知识点开始，而是把体验拆成三个目标。第一，先让玩家看见成品，产生制作意愿。第二，让手部操作能够得到清楚反馈，比如边缘怎么变化，火候什么时候最好。第三，让过程有一个可以带走的结果，也就是四件场景藏品。这是本项目的设计目标；目前我们完成了可运行的作品，实际学习效果还需要后续用户测试来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游戏把景德镇的四个地点组织成一条游历路线：古窑、中国陶瓷博物馆、御窑厂遗址和陶溪川。每站有不同的建筑、光线与界面主题，并对应青花、玲珑、窑变和粉彩四种成品风格。这里的地图与建筑是游戏化表达，目的是让地点、视觉和制作奖励建立联系。玩家不需要先理解复杂的瓷器分类，也可以从探索和收集进入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结构是四个地点，每个地点沿用五个手作订单，一共二十次关卡任务。单件作品先领取瓷泥，然后在塑形、雕刻和上色之间自由往返，不强迫固定制作顺序。烧窑是提交前的必经环节，提交后得到相似度和金币。五关全部通过并且余额达到四百币，就能购买场景贴画。贴花完成后收藏成品，再进入下一站，构成探索、制作、反馈和收藏的循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进入游戏时，玩家首先看到的是最终成品。首页每次只展示一件瓷器，可以水平拖动观察，悬停时阅读简要介绍。离开后闲置五秒才切换，给观察留出时间。玩家可以进入地图介绍，也可以直接去工坊。工坊采用角色探索的方式，走近工作台按 F 就能操作；同时提供相机旋转、滚轮缩放与恢复视角，方便观察不同工位。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型设计重点不是画出很多页面，而是先明确动作和信息的关系。以塑形为例，左侧是制作区，右侧是独立参考，下方保留工具大小、撤销重做和保存离开。这样玩家始终知道自己在操作什么、应该对照什么，以及做错后如何恢复。配套原型图集中还整理了首页、地图、工坊、烧窑、结算、贴花和移动端的交互规则，可以与实际界面一一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塑形是这次交互优化的重点。最初的问题是，斜向拖动可能让变形方向突然切换，玩家难以判断手掌究竟在影响哪里。现在会先抓住边缘，在同一笔中保持稳定方向，配合作用范围和箭头提示。同时，颜色会跟着瓷泥一起移动，拖回起点也能正确恢复。雕刻和上色各有自己的工具，玩家可以自由尝试，再通过撤销和重做控制修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烧窑从观看动画变成了一次小型节奏挑战。指针在九秒内走过扇环，玩家按一次空格锁定火候，触屏也有等效按钮。成功区间比较宽，完美区间更窄，对应不同金币倍率。一般结果不会扣减基础奖励，因此失误不会破坏正常通关节奏。离开面板会暂停，完成的判定可以保存；如果之后实际修改了作品，就需要重新烧制，保证火候与当前作品对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评分由形状轮廓和上色共同组成，权重分别是百分之六十五和百分之三十五，达到百分之八十通过关卡。金币先根据相似度取得基础奖励，再乘以火候倍率并取整。这里展示的是满分作品加完美火候，一百枚基础金币变成一百二十五枚。我们把基础和加成分开显示，避免玩家误以为烧窑能改变相似度。未通过时可以重试，已经获得的金币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场景结束时，玩家会用积累的金币购买一张专属贴画。购买后还需要亲自选择纹样，再点击白瓷碗完成贴花，这一步把奖励变成最后一个制作动作。四件成品分别对应四站主题，收藏后还能再次打开三维预览。这里的成品使用统一的碗形和不同纹样，强调的是场景纪念与视觉收集，而不是声称已经实现了四套独立的三维拉坯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实现上，我们把输入界面、作品规则和渲染保存分开组织。工坊和成品预览用 Three.js，制作过程用正面像素数据和 Canvas 表现，作品、金币、关卡和火候结果保存在浏览器中。目前完成了四个场景、每站五关、六个工位，以及三十项逻辑测试。还检查了桌面、窄屏、触屏和四场景完整流程。这里的编辑本质上仍是正面二维数据，并不是体积陶泥物理模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回顾这轮迭代，我们优先解决具体的体验阻力。首页从四件一起转动改为单件展示，让观看有明确焦点。工位交互从长按 E 改成单次 F，相机也能自由观察。烧窑则从与结果关联较弱的步骤，变成有判定、有奖励反馈的必经环节。同时还调整了小字号、窄屏排版和塑形的方向稳定性。这些改动都围绕同一个目标：让玩家更清楚自己正在做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作品已经形成完整可玩的闭环，但也有明确边界。首先，塑形还不是三维体积模拟。其次，四站共享五类订单，内容变化更多体现在场景和纹样上。接下来最有价值的事情，是让第一次接触的同学实际游玩，观察他们能否找到边缘、理解烧窑时机，以及顺利完成第一关。我们尚未开展正式用户研究，因此不会把测试通过数量当作学习效果或用户满意度的证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最后可以打开页面做一段简短演示。建议先展示首页的成品旋转和悬停介绍，再用地图进入工坊，说明移动与 F 键交互。接着演示一次边缘推压和一次烧窑判定，最后用结算和藏品说明完整目标。正式课堂演示前，可以提前打开网页；如果网络不稳定，也可以使用配套截图和原型图完成讲解。感谢大家，欢迎直接扫码体验，并反馈最难理解的一个操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mc-gordon0921.github.io/Porcelain_Workshop/" TargetMode="External"/><Relationship Id="rId4" Type="http://schemas.openxmlformats.org/officeDocument/2006/relationships/hyperlink" Target="https://bmc-gordon0921.github.io/Porcelain_Workshop/" TargetMode="External"/><Relationship Id="rId5" Type="http://schemas.openxmlformats.org/officeDocument/2006/relationships/hyperlink" Target="https://bmc-gordon0921.github.io/Porcelain_Workshop/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CNU\BOKE\Porcelain_Workshop_Code\deliverables\terra-course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558" y="323850"/>
            <a:ext cx="1215185" cy="476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6000" y="431800"/>
            <a:ext cx="298450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课程汇报 / 作品展示</a:t>
            </a:r>
            <a:endParaRPr lang="en-US" sz="1350" dirty="0"/>
          </a:p>
        </p:txBody>
      </p:sp>
      <p:sp>
        <p:nvSpPr>
          <p:cNvPr id="4" name="Shape 1"/>
          <p:cNvSpPr/>
          <p:nvPr/>
        </p:nvSpPr>
        <p:spPr>
          <a:xfrm>
            <a:off x="6254750" y="1016000"/>
            <a:ext cx="4978400" cy="4978400"/>
          </a:xfrm>
          <a:prstGeom prst="ellipse">
            <a:avLst/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86550" y="1447800"/>
            <a:ext cx="4114800" cy="4114800"/>
          </a:xfrm>
          <a:prstGeom prst="ellipse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pic>
        <p:nvPicPr>
          <p:cNvPr id="6" name="Image 1" descr="D:\ECNU\BOKE\Porcelain_Workshop_Code\deliverables\terra-course\assets\bow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310" y="1416050"/>
            <a:ext cx="5751830" cy="41084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4200" y="1504950"/>
            <a:ext cx="21590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60400" y="1543050"/>
            <a:ext cx="200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可交互的文化体验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58800" y="2184400"/>
            <a:ext cx="5842000" cy="2305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350" b="1" dirty="0">
                <a:solidFill>
                  <a:srgbClr val="24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一抔泥，</a:t>
            </a:r>
            <a:endParaRPr lang="en-US" sz="6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6350" b="1" dirty="0">
                <a:solidFill>
                  <a:srgbClr val="243E5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一城瓷。</a:t>
            </a:r>
            <a:endParaRPr lang="en-US" sz="6350" dirty="0"/>
          </a:p>
        </p:txBody>
      </p:sp>
      <p:sp>
        <p:nvSpPr>
          <p:cNvPr id="10" name="Text 6"/>
          <p:cNvSpPr/>
          <p:nvPr/>
        </p:nvSpPr>
        <p:spPr>
          <a:xfrm>
            <a:off x="615950" y="4673600"/>
            <a:ext cx="527050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22300" y="5187950"/>
            <a:ext cx="4953000" cy="33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把城市的故事，做成可以收藏的瓷器。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58800" y="6076950"/>
            <a:ext cx="11074400" cy="1270"/>
          </a:xfrm>
          <a:prstGeom prst="line">
            <a:avLst/>
          </a:prstGeom>
          <a:noFill/>
          <a:ln w="12700">
            <a:solidFill>
              <a:srgbClr val="D5DCD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71500" y="6261100"/>
            <a:ext cx="793750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网页游戏  /  探索 · 手作 · 收藏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0033000" y="6261100"/>
            <a:ext cx="157480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DESIGN GOAL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让文化从观看，变成动手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设计出发点：降低进入门槛，让操作、反馈与文化主题产生联系。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006600"/>
            <a:ext cx="3517900" cy="3721100"/>
          </a:xfrm>
          <a:prstGeom prst="roundRect">
            <a:avLst>
              <a:gd name="adj" fmla="val 397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2000" y="2222500"/>
            <a:ext cx="736600" cy="7366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2000" y="2279650"/>
            <a:ext cx="7366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3750" dirty="0"/>
          </a:p>
        </p:txBody>
      </p:sp>
      <p:sp>
        <p:nvSpPr>
          <p:cNvPr id="12" name="Text 10"/>
          <p:cNvSpPr/>
          <p:nvPr/>
        </p:nvSpPr>
        <p:spPr>
          <a:xfrm>
            <a:off x="768350" y="3270250"/>
            <a:ext cx="3067050" cy="46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先产生兴趣</a:t>
            </a:r>
            <a:endParaRPr lang="en-US" sz="2450" dirty="0"/>
          </a:p>
        </p:txBody>
      </p:sp>
      <p:sp>
        <p:nvSpPr>
          <p:cNvPr id="13" name="Text 11"/>
          <p:cNvSpPr/>
          <p:nvPr/>
        </p:nvSpPr>
        <p:spPr>
          <a:xfrm>
            <a:off x="781050" y="3911600"/>
            <a:ext cx="3022600" cy="97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地点故事和 3D 成品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帮助玩家知道：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我将做出什么。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4337050" y="2006600"/>
            <a:ext cx="3517900" cy="3721100"/>
          </a:xfrm>
          <a:prstGeom prst="roundRect">
            <a:avLst>
              <a:gd name="adj" fmla="val 397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40250" y="2222500"/>
            <a:ext cx="736600" cy="736600"/>
          </a:xfrm>
          <a:prstGeom prst="ellipse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0250" y="2279650"/>
            <a:ext cx="7366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</a:t>
            </a:r>
            <a:endParaRPr lang="en-US" sz="3750" dirty="0"/>
          </a:p>
        </p:txBody>
      </p:sp>
      <p:sp>
        <p:nvSpPr>
          <p:cNvPr id="17" name="Text 15"/>
          <p:cNvSpPr/>
          <p:nvPr/>
        </p:nvSpPr>
        <p:spPr>
          <a:xfrm>
            <a:off x="4546600" y="3270250"/>
            <a:ext cx="3067050" cy="46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获得可理解的反馈</a:t>
            </a:r>
            <a:endParaRPr lang="en-US" sz="2450" dirty="0"/>
          </a:p>
        </p:txBody>
      </p:sp>
      <p:sp>
        <p:nvSpPr>
          <p:cNvPr id="18" name="Text 16"/>
          <p:cNvSpPr/>
          <p:nvPr/>
        </p:nvSpPr>
        <p:spPr>
          <a:xfrm>
            <a:off x="4559300" y="3911600"/>
            <a:ext cx="3022600" cy="97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推拉、绘画、火候判定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把制作过程变成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玩家自己的动作。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8115300" y="2006600"/>
            <a:ext cx="3517900" cy="3721100"/>
          </a:xfrm>
          <a:prstGeom prst="roundRect">
            <a:avLst>
              <a:gd name="adj" fmla="val 3971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8500" y="2222500"/>
            <a:ext cx="736600" cy="736600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8500" y="2406650"/>
            <a:ext cx="73660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带走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24850" y="3270250"/>
            <a:ext cx="3067050" cy="46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留下可见的完成感</a:t>
            </a:r>
            <a:endParaRPr lang="en-US" sz="2450" dirty="0"/>
          </a:p>
        </p:txBody>
      </p:sp>
      <p:sp>
        <p:nvSpPr>
          <p:cNvPr id="23" name="Text 21"/>
          <p:cNvSpPr/>
          <p:nvPr/>
        </p:nvSpPr>
        <p:spPr>
          <a:xfrm>
            <a:off x="8337550" y="3911600"/>
            <a:ext cx="3022600" cy="979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每站收集一件场景成品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让一次短体验</a:t>
            </a:r>
            <a:endParaRPr lang="en-US" sz="18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形成完整的旅程。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CULTURAL JOURNEY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一张地图，四种瓷韵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地点决定场景气质，纹样决定玩家最终收藏的纪念。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pic>
        <p:nvPicPr>
          <p:cNvPr id="9" name="Image 0" descr="D:\ECNU\BOKE\Porcelain_Workshop_Code\deliverables\terra-course\assets\map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775" y="1879600"/>
            <a:ext cx="4298950" cy="429895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600700" y="1854200"/>
            <a:ext cx="6032500" cy="952500"/>
          </a:xfrm>
          <a:prstGeom prst="roundRect">
            <a:avLst>
              <a:gd name="adj" fmla="val 1066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46750" y="2044700"/>
            <a:ext cx="368300" cy="3683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46750" y="2085213"/>
            <a:ext cx="368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311900" y="2032000"/>
            <a:ext cx="3994150" cy="35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古窑民俗博览区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37300" y="2444750"/>
            <a:ext cx="38608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青花缠枝纹 · 青花瓷碗</a:t>
            </a:r>
            <a:endParaRPr lang="en-US" sz="1450" dirty="0"/>
          </a:p>
        </p:txBody>
      </p:sp>
      <p:pic>
        <p:nvPicPr>
          <p:cNvPr id="15" name="Image 1" descr="D:\ECNU\BOKE\Porcelain_Workshop_Code\deliverables\terra-course\assets\bowl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595" y="1873250"/>
            <a:ext cx="1280160" cy="9144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00700" y="2946400"/>
            <a:ext cx="6032500" cy="952500"/>
          </a:xfrm>
          <a:prstGeom prst="roundRect">
            <a:avLst>
              <a:gd name="adj" fmla="val 1066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746750" y="3136900"/>
            <a:ext cx="368300" cy="368300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46750" y="3177413"/>
            <a:ext cx="368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6311900" y="3124200"/>
            <a:ext cx="3994150" cy="35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中国陶瓷博物馆</a:t>
            </a:r>
            <a:endParaRPr lang="en-US" sz="1900" dirty="0"/>
          </a:p>
        </p:txBody>
      </p:sp>
      <p:sp>
        <p:nvSpPr>
          <p:cNvPr id="20" name="Text 16"/>
          <p:cNvSpPr/>
          <p:nvPr/>
        </p:nvSpPr>
        <p:spPr>
          <a:xfrm>
            <a:off x="6337300" y="3536950"/>
            <a:ext cx="38608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玲珑白瓷纹 · 玲珑白瓷碗</a:t>
            </a:r>
            <a:endParaRPr lang="en-US" sz="1450" dirty="0"/>
          </a:p>
        </p:txBody>
      </p:sp>
      <p:pic>
        <p:nvPicPr>
          <p:cNvPr id="21" name="Image 2" descr="D:\ECNU\BOKE\Porcelain_Workshop_Code\deliverables\terra-course\assets\bowl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1595" y="2965450"/>
            <a:ext cx="1280160" cy="9144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600700" y="4038600"/>
            <a:ext cx="6032500" cy="952500"/>
          </a:xfrm>
          <a:prstGeom prst="roundRect">
            <a:avLst>
              <a:gd name="adj" fmla="val 1066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746750" y="4229100"/>
            <a:ext cx="368300" cy="368300"/>
          </a:xfrm>
          <a:prstGeom prst="ellipse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746750" y="4269613"/>
            <a:ext cx="368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6311900" y="4216400"/>
            <a:ext cx="3994150" cy="35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御窑厂国家考古遗址公园</a:t>
            </a:r>
            <a:endParaRPr lang="en-US" sz="1900" dirty="0"/>
          </a:p>
        </p:txBody>
      </p:sp>
      <p:sp>
        <p:nvSpPr>
          <p:cNvPr id="26" name="Text 21"/>
          <p:cNvSpPr/>
          <p:nvPr/>
        </p:nvSpPr>
        <p:spPr>
          <a:xfrm>
            <a:off x="6337300" y="4629150"/>
            <a:ext cx="38608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红金窑变纹 · 红金窑变碗</a:t>
            </a:r>
            <a:endParaRPr lang="en-US" sz="1450" dirty="0"/>
          </a:p>
        </p:txBody>
      </p:sp>
      <p:pic>
        <p:nvPicPr>
          <p:cNvPr id="27" name="Image 3" descr="D:\ECNU\BOKE\Porcelain_Workshop_Code\deliverables\terra-course\assets\bowl-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1595" y="4057650"/>
            <a:ext cx="1280160" cy="9144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5600700" y="5130800"/>
            <a:ext cx="6032500" cy="952500"/>
          </a:xfrm>
          <a:prstGeom prst="roundRect">
            <a:avLst>
              <a:gd name="adj" fmla="val 1066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746750" y="5321300"/>
            <a:ext cx="368300" cy="368300"/>
          </a:xfrm>
          <a:prstGeom prst="ellipse">
            <a:avLst/>
          </a:prstGeom>
          <a:solidFill>
            <a:srgbClr val="B984A0"/>
          </a:solidFill>
          <a:ln w="12700">
            <a:solidFill>
              <a:srgbClr val="B984A0">
                <a:alpha val="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746750" y="5361813"/>
            <a:ext cx="368300" cy="27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6311900" y="5308600"/>
            <a:ext cx="3994150" cy="359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陶溪川文创街区</a:t>
            </a:r>
            <a:endParaRPr lang="en-US" sz="1900" dirty="0"/>
          </a:p>
        </p:txBody>
      </p:sp>
      <p:sp>
        <p:nvSpPr>
          <p:cNvPr id="32" name="Text 26"/>
          <p:cNvSpPr/>
          <p:nvPr/>
        </p:nvSpPr>
        <p:spPr>
          <a:xfrm>
            <a:off x="6337300" y="5721350"/>
            <a:ext cx="38608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粉彩花瓣纹 · 粉彩花瓣碗</a:t>
            </a:r>
            <a:endParaRPr lang="en-US" sz="1450" dirty="0"/>
          </a:p>
        </p:txBody>
      </p:sp>
      <p:pic>
        <p:nvPicPr>
          <p:cNvPr id="33" name="Image 4" descr="D:\ECNU\BOKE\Porcelain_Workshop_Code\deliverables\terra-course\assets\bowl-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1595" y="5149850"/>
            <a:ext cx="12801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CORE LOOP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个订单，串成一段可完成的旅程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四个地点，每站五关；制作反馈推动下一次尝试，收藏推动下一站探索。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266950"/>
            <a:ext cx="1790700" cy="1219200"/>
          </a:xfrm>
          <a:prstGeom prst="roundRect">
            <a:avLst>
              <a:gd name="adj" fmla="val 937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8500" y="2406650"/>
            <a:ext cx="266700" cy="2667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8500" y="2435987"/>
            <a:ext cx="26670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8500" y="2851150"/>
            <a:ext cx="15113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领取瓷泥</a:t>
            </a:r>
            <a:endParaRPr lang="en-US" sz="2150" dirty="0"/>
          </a:p>
        </p:txBody>
      </p:sp>
      <p:sp>
        <p:nvSpPr>
          <p:cNvPr id="13" name="Shape 11"/>
          <p:cNvSpPr/>
          <p:nvPr/>
        </p:nvSpPr>
        <p:spPr>
          <a:xfrm>
            <a:off x="2755900" y="2266950"/>
            <a:ext cx="3987800" cy="1219200"/>
          </a:xfrm>
          <a:prstGeom prst="roundRect">
            <a:avLst>
              <a:gd name="adj" fmla="val 937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95600" y="2406650"/>
            <a:ext cx="266700" cy="2667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95600" y="2435987"/>
            <a:ext cx="26670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95600" y="2851150"/>
            <a:ext cx="37084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自由制作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7162800" y="2266950"/>
            <a:ext cx="1790700" cy="1219200"/>
          </a:xfrm>
          <a:prstGeom prst="roundRect">
            <a:avLst>
              <a:gd name="adj" fmla="val 9375"/>
            </a:avLst>
          </a:prstGeom>
          <a:solidFill>
            <a:srgbClr val="F5E4D6"/>
          </a:solidFill>
          <a:ln w="12700">
            <a:solidFill>
              <a:srgbClr val="F5E4D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02500" y="2406650"/>
            <a:ext cx="266700" cy="266700"/>
          </a:xfrm>
          <a:prstGeom prst="ellipse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02500" y="2435987"/>
            <a:ext cx="26670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02500" y="2851150"/>
            <a:ext cx="15113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烧窑判定</a:t>
            </a:r>
            <a:endParaRPr lang="en-US" sz="2150" dirty="0"/>
          </a:p>
        </p:txBody>
      </p:sp>
      <p:sp>
        <p:nvSpPr>
          <p:cNvPr id="21" name="Shape 19"/>
          <p:cNvSpPr/>
          <p:nvPr/>
        </p:nvSpPr>
        <p:spPr>
          <a:xfrm>
            <a:off x="9372600" y="2266950"/>
            <a:ext cx="2260600" cy="1219200"/>
          </a:xfrm>
          <a:prstGeom prst="roundRect">
            <a:avLst>
              <a:gd name="adj" fmla="val 937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12300" y="2406650"/>
            <a:ext cx="266700" cy="2667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12300" y="2435987"/>
            <a:ext cx="266700" cy="20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12300" y="2851150"/>
            <a:ext cx="19812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提交评分</a:t>
            </a:r>
            <a:endParaRPr lang="en-US" sz="2150" dirty="0"/>
          </a:p>
        </p:txBody>
      </p:sp>
      <p:sp>
        <p:nvSpPr>
          <p:cNvPr id="25" name="Shape 23"/>
          <p:cNvSpPr/>
          <p:nvPr/>
        </p:nvSpPr>
        <p:spPr>
          <a:xfrm>
            <a:off x="2901950" y="36195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8150" y="3657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塑形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102100" y="36195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78300" y="3657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雕刻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302250" y="3619500"/>
            <a:ext cx="11049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78450" y="3657600"/>
            <a:ext cx="95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上色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2393950" y="2889250"/>
            <a:ext cx="27305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13550" y="2889250"/>
            <a:ext cx="27305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23350" y="2889250"/>
            <a:ext cx="27305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502900" y="3594100"/>
            <a:ext cx="1270" cy="78105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40700" y="4521200"/>
            <a:ext cx="3492500" cy="1111250"/>
          </a:xfrm>
          <a:prstGeom prst="roundRect">
            <a:avLst>
              <a:gd name="adj" fmla="val 9143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99450" y="4705350"/>
            <a:ext cx="3168650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积累金币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8299450" y="5213350"/>
            <a:ext cx="316865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 80% 可重试，金币保留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349750" y="4521200"/>
            <a:ext cx="3492500" cy="1111250"/>
          </a:xfrm>
          <a:prstGeom prst="roundRect">
            <a:avLst>
              <a:gd name="adj" fmla="val 9143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08500" y="4705350"/>
            <a:ext cx="3168650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购买贴画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4508500" y="5213350"/>
            <a:ext cx="316865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本站五关通过 + 400 币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558800" y="4521200"/>
            <a:ext cx="3492500" cy="1111250"/>
          </a:xfrm>
          <a:prstGeom prst="roundRect">
            <a:avLst>
              <a:gd name="adj" fmla="val 9143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550" y="4705350"/>
            <a:ext cx="3168650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收藏并前进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717550" y="5213350"/>
            <a:ext cx="316865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贴好纹样后进入下一场景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 flipH="1">
            <a:off x="4121150" y="5067300"/>
            <a:ext cx="14605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 flipH="1">
            <a:off x="7912100" y="5067300"/>
            <a:ext cx="14605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603250" y="5930900"/>
            <a:ext cx="109982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制作阶段可以自由往返工位；烧窑完成后，作品才具备提交资格。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ONBOARDING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先被成品吸引，再走进工坊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首页负责建立期待，工坊负责把玩家带到可以动手的位置。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3400" y="2089150"/>
            <a:ext cx="5334000" cy="3371850"/>
          </a:xfrm>
          <a:prstGeom prst="roundRect">
            <a:avLst>
              <a:gd name="adj" fmla="val 3013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0" name="Image 0" descr="D:\ECNU\BOKE\Porcelain_Workshop_Code\deliverables\terra-course\assets\home-h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200" y="2139950"/>
            <a:ext cx="5232400" cy="327025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86500" y="2089150"/>
            <a:ext cx="5334000" cy="3371850"/>
          </a:xfrm>
          <a:prstGeom prst="roundRect">
            <a:avLst>
              <a:gd name="adj" fmla="val 3013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2" name="Image 1" descr="D:\ECNU\BOKE\Porcelain_Workshop_Code\deliverables\terra-course\assets\worksh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0" y="2139950"/>
            <a:ext cx="5232400" cy="32702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09600" y="1758950"/>
            <a:ext cx="281305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1797050"/>
            <a:ext cx="2660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首页：展示目标成品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75400" y="1758950"/>
            <a:ext cx="32258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51600" y="1797050"/>
            <a:ext cx="3073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工坊：靠近工作台按 F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15950" y="5645150"/>
            <a:ext cx="5187950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单件轮播 / 悬停简介 / 闲置 5 秒切换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94450" y="5645150"/>
            <a:ext cx="5187950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WASD 移动 / 左键旋转 / 滚轮缩放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INTERACTION PROTOTYPE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先明确结构，再完成视觉表达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原型围绕三个问题：在哪里操作、参照什么、如何撤回与离开。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9600" y="1816100"/>
            <a:ext cx="28702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54200"/>
            <a:ext cx="271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线框：动作与信息层级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37300" y="1816100"/>
            <a:ext cx="4076700" cy="304800"/>
          </a:xfrm>
          <a:prstGeom prst="roundRect">
            <a:avLst>
              <a:gd name="adj" fmla="val 50000"/>
            </a:avLst>
          </a:prstGeom>
          <a:solidFill>
            <a:srgbClr val="E7EDE3"/>
          </a:solidFill>
          <a:ln w="12700">
            <a:solidFill>
              <a:srgbClr val="E7EDE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3500" y="1854200"/>
            <a:ext cx="392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526E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界面：沿用同一套操作结构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9600" y="2400300"/>
            <a:ext cx="5175250" cy="3232150"/>
          </a:xfrm>
          <a:prstGeom prst="roundRect">
            <a:avLst>
              <a:gd name="adj" fmla="val 3143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600" y="2400300"/>
            <a:ext cx="5175250" cy="333641"/>
          </a:xfrm>
          <a:prstGeom prst="roundRect">
            <a:avLst>
              <a:gd name="adj" fmla="val 19032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806" y="2478497"/>
            <a:ext cx="3726180" cy="20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· 景德镇瓷器之旅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775208" y="2874696"/>
            <a:ext cx="4554220" cy="27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67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粗塑成形 / 宽手掌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775208" y="3218764"/>
            <a:ext cx="2960243" cy="1720338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42651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0094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7536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44979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12422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9865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47307" y="3218764"/>
            <a:ext cx="1270" cy="1720338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5208" y="3557618"/>
            <a:ext cx="2960243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5208" y="3896473"/>
            <a:ext cx="2960243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208" y="4235327"/>
            <a:ext cx="2960243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5208" y="4574182"/>
            <a:ext cx="2960243" cy="1270"/>
          </a:xfrm>
          <a:prstGeom prst="line">
            <a:avLst/>
          </a:prstGeom>
          <a:noFill/>
          <a:ln w="6350">
            <a:solidFill>
              <a:srgbClr val="DEE0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27290" y="3354306"/>
            <a:ext cx="1666431" cy="1386697"/>
          </a:xfrm>
          <a:prstGeom prst="roundRect">
            <a:avLst>
              <a:gd name="adj" fmla="val 38923"/>
            </a:avLst>
          </a:prstGeom>
          <a:solidFill>
            <a:srgbClr val="FFFDF7"/>
          </a:solidFill>
          <a:ln w="12700">
            <a:solidFill>
              <a:srgbClr val="AAB8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27125" y="3755718"/>
            <a:ext cx="734886" cy="734886"/>
          </a:xfrm>
          <a:prstGeom prst="ellipse">
            <a:avLst/>
          </a:prstGeom>
          <a:solidFill>
            <a:srgbClr val="E2EBF2"/>
          </a:solidFill>
          <a:ln w="12700">
            <a:solidFill>
              <a:srgbClr val="28548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785" y="4125851"/>
            <a:ext cx="621030" cy="1270"/>
          </a:xfrm>
          <a:prstGeom prst="line">
            <a:avLst/>
          </a:prstGeom>
          <a:noFill/>
          <a:ln w="31750">
            <a:solidFill>
              <a:srgbClr val="285487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994214" y="3223977"/>
            <a:ext cx="1583626" cy="1131252"/>
          </a:xfrm>
          <a:prstGeom prst="rect">
            <a:avLst/>
          </a:prstGeom>
          <a:solidFill>
            <a:srgbClr val="F5F1E7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2976" y="3682734"/>
            <a:ext cx="1154081" cy="239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63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独立参考图</a:t>
            </a:r>
            <a:endParaRPr lang="en-US" sz="1263" dirty="0"/>
          </a:p>
        </p:txBody>
      </p:sp>
      <p:sp>
        <p:nvSpPr>
          <p:cNvPr id="34" name="Text 32"/>
          <p:cNvSpPr/>
          <p:nvPr/>
        </p:nvSpPr>
        <p:spPr>
          <a:xfrm>
            <a:off x="3963162" y="4511624"/>
            <a:ext cx="1630204" cy="223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82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观察轮廓与纹样</a:t>
            </a:r>
            <a:endParaRPr lang="en-US" sz="1182" dirty="0"/>
          </a:p>
        </p:txBody>
      </p:sp>
      <p:sp>
        <p:nvSpPr>
          <p:cNvPr id="35" name="Text 33"/>
          <p:cNvSpPr/>
          <p:nvPr/>
        </p:nvSpPr>
        <p:spPr>
          <a:xfrm>
            <a:off x="3957987" y="4824413"/>
            <a:ext cx="1640554" cy="20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边缘提示 / 拖动方向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1084" y="5121562"/>
            <a:ext cx="828040" cy="200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60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工具大小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1629124" y="5199759"/>
            <a:ext cx="1169607" cy="1270"/>
          </a:xfrm>
          <a:prstGeom prst="line">
            <a:avLst/>
          </a:prstGeom>
          <a:noFill/>
          <a:ln w="38100">
            <a:solidFill>
              <a:srgbClr val="7C948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94897" y="5142414"/>
            <a:ext cx="113856" cy="113856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33287" y="5074643"/>
            <a:ext cx="1086803" cy="297149"/>
          </a:xfrm>
          <a:prstGeom prst="roundRect">
            <a:avLst>
              <a:gd name="adj" fmla="val 21370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85040" y="5131988"/>
            <a:ext cx="983298" cy="215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41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/ 重做</a:t>
            </a:r>
            <a:endParaRPr lang="en-US" sz="1141" dirty="0"/>
          </a:p>
        </p:txBody>
      </p:sp>
      <p:sp>
        <p:nvSpPr>
          <p:cNvPr id="41" name="Shape 39"/>
          <p:cNvSpPr/>
          <p:nvPr/>
        </p:nvSpPr>
        <p:spPr>
          <a:xfrm>
            <a:off x="4263327" y="5251890"/>
            <a:ext cx="1314514" cy="297149"/>
          </a:xfrm>
          <a:prstGeom prst="roundRect">
            <a:avLst>
              <a:gd name="adj" fmla="val 21370"/>
            </a:avLst>
          </a:prstGeom>
          <a:solidFill>
            <a:srgbClr val="E2EBF2"/>
          </a:solidFill>
          <a:ln w="12700">
            <a:solidFill>
              <a:srgbClr val="D5DC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15079" y="5309235"/>
            <a:ext cx="1211008" cy="215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41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保存并离开</a:t>
            </a:r>
            <a:endParaRPr lang="en-US" sz="1141" dirty="0"/>
          </a:p>
        </p:txBody>
      </p:sp>
      <p:sp>
        <p:nvSpPr>
          <p:cNvPr id="43" name="Shape 41"/>
          <p:cNvSpPr/>
          <p:nvPr/>
        </p:nvSpPr>
        <p:spPr>
          <a:xfrm>
            <a:off x="770033" y="3323027"/>
            <a:ext cx="207010" cy="20701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0033" y="3345798"/>
            <a:ext cx="207010" cy="15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815" dirty="0"/>
          </a:p>
        </p:txBody>
      </p:sp>
      <p:sp>
        <p:nvSpPr>
          <p:cNvPr id="45" name="Shape 43"/>
          <p:cNvSpPr/>
          <p:nvPr/>
        </p:nvSpPr>
        <p:spPr>
          <a:xfrm>
            <a:off x="3766502" y="3291748"/>
            <a:ext cx="207010" cy="20701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66502" y="3314519"/>
            <a:ext cx="207010" cy="157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815" dirty="0"/>
          </a:p>
        </p:txBody>
      </p:sp>
      <p:sp>
        <p:nvSpPr>
          <p:cNvPr id="47" name="Shape 45"/>
          <p:cNvSpPr/>
          <p:nvPr/>
        </p:nvSpPr>
        <p:spPr>
          <a:xfrm>
            <a:off x="6369050" y="2222500"/>
            <a:ext cx="5213350" cy="3581400"/>
          </a:xfrm>
          <a:prstGeom prst="roundRect">
            <a:avLst>
              <a:gd name="adj" fmla="val 2837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48" name="Image 0" descr="D:\ECNU\BOKE\Porcelain_Workshop_Code\deliverables\terra-course\assets\sha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3054" y="2273300"/>
            <a:ext cx="3705343" cy="34798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609600" y="6045200"/>
            <a:ext cx="1098550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制作区  →  独立参考  →  工具与撤销  →  保存返回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HANDS-ON CRAFT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把塑形做成可理解的推拉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宽手掌负责粗塑，刻刀负责减材，画笔负责已有表面的颜色。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750" y="1847850"/>
            <a:ext cx="6584950" cy="4165600"/>
          </a:xfrm>
          <a:prstGeom prst="roundRect">
            <a:avLst>
              <a:gd name="adj" fmla="val 2439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0" name="Image 0" descr="D:\ECNU\BOKE\Porcelain_Workshop_Code\deliverables\terra-course\assets\shap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8521" y="1898650"/>
            <a:ext cx="4327407" cy="4064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32700" y="2152650"/>
            <a:ext cx="342900" cy="3429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2700" y="2190369"/>
            <a:ext cx="3429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134350" y="2114550"/>
            <a:ext cx="33591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从边缘开始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134350" y="2520950"/>
            <a:ext cx="3359150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明确可抓取的位置，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显示作用范围与拖动方向。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32700" y="3473450"/>
            <a:ext cx="342900" cy="3429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32700" y="3511169"/>
            <a:ext cx="3429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134350" y="3441700"/>
            <a:ext cx="33591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保持一笔连续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8134350" y="3848100"/>
            <a:ext cx="3359150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固定本笔变形方向，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减少斜向拖动时的跳变。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32700" y="4800600"/>
            <a:ext cx="342900" cy="342900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2700" y="4838319"/>
            <a:ext cx="34290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134350" y="4762500"/>
            <a:ext cx="33591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允许试错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8134350" y="5168900"/>
            <a:ext cx="3359150" cy="575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颜色随形状移动，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支持撤销、重做和保存。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699500" y="222250"/>
            <a:ext cx="2921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FC2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KILN TIMING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704850"/>
            <a:ext cx="110490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FFF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让烧窑成为一次有节奏的决定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52550"/>
            <a:ext cx="109982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CB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观察指针进入火候区间，按一次空格，锁定这一件作品的结果。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4700" y="2152650"/>
            <a:ext cx="4654550" cy="4006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84400" y="3759200"/>
            <a:ext cx="1816100" cy="1211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1949450" y="4794250"/>
            <a:ext cx="2286000" cy="331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D6E1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 · 单轮判定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6267450" y="2247900"/>
            <a:ext cx="5372100" cy="1009650"/>
          </a:xfrm>
          <a:prstGeom prst="roundRect">
            <a:avLst>
              <a:gd name="adj" fmla="val 10692"/>
            </a:avLst>
          </a:prstGeom>
          <a:solidFill>
            <a:srgbClr val="23465B"/>
          </a:solidFill>
          <a:ln w="12700">
            <a:solidFill>
              <a:srgbClr val="23465B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67450" y="2247900"/>
            <a:ext cx="57150" cy="1009650"/>
          </a:xfrm>
          <a:prstGeom prst="rect">
            <a:avLst/>
          </a:prstGeom>
          <a:solidFill>
            <a:srgbClr val="DDD9C8"/>
          </a:solidFill>
          <a:ln w="12700">
            <a:solidFill>
              <a:srgbClr val="DDD9C8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77000" y="2419350"/>
            <a:ext cx="126365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321800" y="2381250"/>
            <a:ext cx="1993900" cy="60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DDD9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477000" y="2882900"/>
            <a:ext cx="48006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3D3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提前、错过或超时，保留基础奖励。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267450" y="3409950"/>
            <a:ext cx="5372100" cy="1009650"/>
          </a:xfrm>
          <a:prstGeom prst="roundRect">
            <a:avLst>
              <a:gd name="adj" fmla="val 10692"/>
            </a:avLst>
          </a:prstGeom>
          <a:solidFill>
            <a:srgbClr val="23465B"/>
          </a:solidFill>
          <a:ln w="12700">
            <a:solidFill>
              <a:srgbClr val="23465B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7450" y="3409950"/>
            <a:ext cx="57150" cy="1009650"/>
          </a:xfrm>
          <a:prstGeom prst="rect">
            <a:avLst/>
          </a:prstGeom>
          <a:solidFill>
            <a:srgbClr val="EAB16D"/>
          </a:solidFill>
          <a:ln w="12700">
            <a:solidFill>
              <a:srgbClr val="EAB16D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77000" y="3581400"/>
            <a:ext cx="126365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9321800" y="3543300"/>
            <a:ext cx="1993900" cy="60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EAB1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×1.1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477000" y="4044950"/>
            <a:ext cx="48006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3D3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指针位于 50%—80% 区间。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267450" y="4572000"/>
            <a:ext cx="5372100" cy="1009650"/>
          </a:xfrm>
          <a:prstGeom prst="roundRect">
            <a:avLst>
              <a:gd name="adj" fmla="val 10692"/>
            </a:avLst>
          </a:prstGeom>
          <a:solidFill>
            <a:srgbClr val="23465B"/>
          </a:solidFill>
          <a:ln w="12700">
            <a:solidFill>
              <a:srgbClr val="23465B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67450" y="4572000"/>
            <a:ext cx="57150" cy="1009650"/>
          </a:xfrm>
          <a:prstGeom prst="rect">
            <a:avLst/>
          </a:prstGeom>
          <a:solidFill>
            <a:srgbClr val="CE6433"/>
          </a:solidFill>
          <a:ln w="12700">
            <a:solidFill>
              <a:srgbClr val="CE6433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7000" y="4743450"/>
            <a:ext cx="1263650" cy="454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D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9321800" y="4705350"/>
            <a:ext cx="1993900" cy="605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CE64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×1.25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477000" y="5207000"/>
            <a:ext cx="48006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C3D3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指针位于 62%—70% 区间。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628650" y="6172200"/>
            <a:ext cx="10909300" cy="25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B8CB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离开面板暂停 · 已完成判定保存 · 实际修改作品后需重烧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FEEDBACK &amp; REWARD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分数解释质量，金币体现火候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通关看相似度，奖励再乘火候倍率；两种反馈分别说明。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7850" y="1860550"/>
            <a:ext cx="6089650" cy="4305300"/>
          </a:xfrm>
          <a:prstGeom prst="roundRect">
            <a:avLst>
              <a:gd name="adj" fmla="val 2360"/>
            </a:avLst>
          </a:prstGeom>
          <a:solidFill>
            <a:srgbClr val="FFFDF7"/>
          </a:solidFill>
          <a:ln w="12700">
            <a:solidFill>
              <a:srgbClr val="D5DCD8"/>
            </a:solidFill>
            <a:prstDash val="solid"/>
          </a:ln>
        </p:spPr>
      </p:sp>
      <p:pic>
        <p:nvPicPr>
          <p:cNvPr id="10" name="Image 0" descr="D:\ECNU\BOKE\Porcelain_Workshop_Code\deliverables\terra-course\assets\res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330" y="1911350"/>
            <a:ext cx="4140690" cy="4203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270750" y="2032000"/>
            <a:ext cx="4083050" cy="397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相似度构成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7289800" y="2571750"/>
            <a:ext cx="2762250" cy="254000"/>
          </a:xfrm>
          <a:prstGeom prst="rect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052050" y="2571750"/>
            <a:ext cx="1485900" cy="254000"/>
          </a:xfrm>
          <a:prstGeom prst="rect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83450" y="2965450"/>
            <a:ext cx="2330450" cy="32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 65%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9804400" y="2965450"/>
            <a:ext cx="1778000" cy="32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5573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上色 35%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283450" y="3498850"/>
            <a:ext cx="371475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59650" y="3536950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 达到通关标准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277100" y="4178300"/>
            <a:ext cx="40576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奖励示例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7277100" y="4679950"/>
            <a:ext cx="4184650" cy="463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5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× 1.25 = 125 币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7289800" y="5245100"/>
            <a:ext cx="4140200" cy="557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满分作品 + 完美火候</a:t>
            </a:r>
            <a:endParaRPr lang="en-US" sz="15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基础奖励与额外加成分开展示。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COLLECTION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每一站，都带走一件成品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让抽象的进度，变成能够旋转欣赏的纪念。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006600"/>
            <a:ext cx="2590800" cy="2952750"/>
          </a:xfrm>
          <a:prstGeom prst="roundRect">
            <a:avLst>
              <a:gd name="adj" fmla="val 4902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6600" y="2184400"/>
            <a:ext cx="21844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50" dirty="0"/>
          </a:p>
        </p:txBody>
      </p:sp>
      <p:pic>
        <p:nvPicPr>
          <p:cNvPr id="11" name="Image 0" descr="D:\ECNU\BOKE\Porcelain_Workshop_Code\deliverables\terra-course\assets\bowl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555" y="2552700"/>
            <a:ext cx="2453640" cy="17526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1200" y="4425950"/>
            <a:ext cx="22923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青花瓷碗</a:t>
            </a:r>
            <a:endParaRPr lang="en-US" sz="1950" dirty="0"/>
          </a:p>
        </p:txBody>
      </p:sp>
      <p:sp>
        <p:nvSpPr>
          <p:cNvPr id="13" name="Shape 10"/>
          <p:cNvSpPr/>
          <p:nvPr/>
        </p:nvSpPr>
        <p:spPr>
          <a:xfrm>
            <a:off x="3397250" y="2006600"/>
            <a:ext cx="2590800" cy="2952750"/>
          </a:xfrm>
          <a:prstGeom prst="roundRect">
            <a:avLst>
              <a:gd name="adj" fmla="val 4902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75050" y="2184400"/>
            <a:ext cx="21844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50" dirty="0"/>
          </a:p>
        </p:txBody>
      </p:sp>
      <p:pic>
        <p:nvPicPr>
          <p:cNvPr id="15" name="Image 1" descr="D:\ECNU\BOKE\Porcelain_Workshop_Code\deliverables\terra-course\assets\bowl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005" y="2552700"/>
            <a:ext cx="2453640" cy="1752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49650" y="4425950"/>
            <a:ext cx="22923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玲珑白瓷碗</a:t>
            </a:r>
            <a:endParaRPr lang="en-US" sz="1950" dirty="0"/>
          </a:p>
        </p:txBody>
      </p:sp>
      <p:sp>
        <p:nvSpPr>
          <p:cNvPr id="17" name="Shape 13"/>
          <p:cNvSpPr/>
          <p:nvPr/>
        </p:nvSpPr>
        <p:spPr>
          <a:xfrm>
            <a:off x="6235700" y="2006600"/>
            <a:ext cx="2590800" cy="2952750"/>
          </a:xfrm>
          <a:prstGeom prst="roundRect">
            <a:avLst>
              <a:gd name="adj" fmla="val 4902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13500" y="2184400"/>
            <a:ext cx="21844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50" dirty="0"/>
          </a:p>
        </p:txBody>
      </p:sp>
      <p:pic>
        <p:nvPicPr>
          <p:cNvPr id="19" name="Image 2" descr="D:\ECNU\BOKE\Porcelain_Workshop_Code\deliverables\terra-course\assets\bowl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455" y="2552700"/>
            <a:ext cx="2453640" cy="1752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88100" y="4425950"/>
            <a:ext cx="22923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红金窑变碗</a:t>
            </a:r>
            <a:endParaRPr lang="en-US" sz="1950" dirty="0"/>
          </a:p>
        </p:txBody>
      </p:sp>
      <p:sp>
        <p:nvSpPr>
          <p:cNvPr id="21" name="Shape 16"/>
          <p:cNvSpPr/>
          <p:nvPr/>
        </p:nvSpPr>
        <p:spPr>
          <a:xfrm>
            <a:off x="9074150" y="2006600"/>
            <a:ext cx="2590800" cy="2952750"/>
          </a:xfrm>
          <a:prstGeom prst="roundRect">
            <a:avLst>
              <a:gd name="adj" fmla="val 4902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251950" y="2184400"/>
            <a:ext cx="218440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B984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50" dirty="0"/>
          </a:p>
        </p:txBody>
      </p:sp>
      <p:pic>
        <p:nvPicPr>
          <p:cNvPr id="23" name="Image 3" descr="D:\ECNU\BOKE\Porcelain_Workshop_Code\deliverables\terra-course\assets\bowl-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5905" y="2552700"/>
            <a:ext cx="2453640" cy="1752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550" y="4425950"/>
            <a:ext cx="2292350" cy="368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50" b="1" dirty="0">
                <a:solidFill>
                  <a:srgbClr val="B984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粉彩花瓣碗</a:t>
            </a:r>
            <a:endParaRPr lang="en-US" sz="1950" dirty="0"/>
          </a:p>
        </p:txBody>
      </p:sp>
      <p:sp>
        <p:nvSpPr>
          <p:cNvPr id="25" name="Shape 19"/>
          <p:cNvSpPr/>
          <p:nvPr/>
        </p:nvSpPr>
        <p:spPr>
          <a:xfrm>
            <a:off x="558800" y="5467350"/>
            <a:ext cx="25908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35000" y="5505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完成本站五关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3187700" y="5619750"/>
            <a:ext cx="152400" cy="1270"/>
          </a:xfrm>
          <a:prstGeom prst="line">
            <a:avLst/>
          </a:prstGeom>
          <a:noFill/>
          <a:ln w="1905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3397250" y="5467350"/>
            <a:ext cx="25908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473450" y="5505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币购买贴画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6026150" y="5619750"/>
            <a:ext cx="152400" cy="1270"/>
          </a:xfrm>
          <a:prstGeom prst="line">
            <a:avLst/>
          </a:prstGeom>
          <a:noFill/>
          <a:ln w="1905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6235700" y="5467350"/>
            <a:ext cx="2590800" cy="304800"/>
          </a:xfrm>
          <a:prstGeom prst="roundRect">
            <a:avLst>
              <a:gd name="adj" fmla="val 50000"/>
            </a:avLst>
          </a:prstGeom>
          <a:solidFill>
            <a:srgbClr val="F5E4D6"/>
          </a:solidFill>
          <a:ln w="12700">
            <a:solidFill>
              <a:srgbClr val="F5E4D6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311900" y="5505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选择并贴到碗上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864600" y="5619750"/>
            <a:ext cx="152400" cy="1270"/>
          </a:xfrm>
          <a:prstGeom prst="line">
            <a:avLst/>
          </a:prstGeom>
          <a:noFill/>
          <a:ln w="1905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34" name="Shape 28"/>
          <p:cNvSpPr/>
          <p:nvPr/>
        </p:nvSpPr>
        <p:spPr>
          <a:xfrm>
            <a:off x="9074150" y="5467350"/>
            <a:ext cx="2590800" cy="304800"/>
          </a:xfrm>
          <a:prstGeom prst="roundRect">
            <a:avLst>
              <a:gd name="adj" fmla="val 50000"/>
            </a:avLst>
          </a:prstGeom>
          <a:solidFill>
            <a:srgbClr val="E2EBF2"/>
          </a:solidFill>
          <a:ln w="12700">
            <a:solidFill>
              <a:srgbClr val="E2EBF2">
                <a:alpha val="0"/>
              </a:srgbClr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9150350" y="550545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收藏后进入下一站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用清楚的状态，连接每一次操作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网页端完成制作、渲染、结算与保存，已部署到 GitHub Pages。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114550"/>
            <a:ext cx="3505200" cy="2070100"/>
          </a:xfrm>
          <a:prstGeom prst="roundRect">
            <a:avLst>
              <a:gd name="adj" fmla="val 613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6600" y="2298700"/>
            <a:ext cx="330200" cy="3302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6600" y="2335022"/>
            <a:ext cx="330200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300" y="2832100"/>
            <a:ext cx="312420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输入与界面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62000" y="3346450"/>
            <a:ext cx="3098800" cy="59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鼠标 / 键盘 / 触屏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与 CSS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127500" y="3143250"/>
            <a:ext cx="1524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43400" y="2114550"/>
            <a:ext cx="3505200" cy="2070100"/>
          </a:xfrm>
          <a:prstGeom prst="roundRect">
            <a:avLst>
              <a:gd name="adj" fmla="val 613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1200" y="2298700"/>
            <a:ext cx="330200" cy="330200"/>
          </a:xfrm>
          <a:prstGeom prst="ellipse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1200" y="2335022"/>
            <a:ext cx="330200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3900" y="2832100"/>
            <a:ext cx="312420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作品与规则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46600" y="3346450"/>
            <a:ext cx="3098800" cy="59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112 × 112 正面编辑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关卡、火候与奖励状态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912100" y="3143250"/>
            <a:ext cx="1524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28000" y="2114550"/>
            <a:ext cx="3505200" cy="2070100"/>
          </a:xfrm>
          <a:prstGeom prst="roundRect">
            <a:avLst>
              <a:gd name="adj" fmla="val 613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05800" y="2298700"/>
            <a:ext cx="330200" cy="330200"/>
          </a:xfrm>
          <a:prstGeom prst="ellipse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5800" y="2335022"/>
            <a:ext cx="330200" cy="250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18500" y="2832100"/>
            <a:ext cx="3124200" cy="41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视觉与保存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31200" y="3346450"/>
            <a:ext cx="3098800" cy="59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+ Canvas</a:t>
            </a:r>
            <a:endParaRPr lang="en-US" sz="16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浏览器本地存档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577850" y="4699000"/>
            <a:ext cx="2565400" cy="88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4700" dirty="0"/>
          </a:p>
        </p:txBody>
      </p:sp>
      <p:sp>
        <p:nvSpPr>
          <p:cNvPr id="27" name="Text 25"/>
          <p:cNvSpPr/>
          <p:nvPr/>
        </p:nvSpPr>
        <p:spPr>
          <a:xfrm>
            <a:off x="596900" y="5537200"/>
            <a:ext cx="2482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主题地点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422650" y="4699000"/>
            <a:ext cx="2565400" cy="88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4700" dirty="0"/>
          </a:p>
        </p:txBody>
      </p:sp>
      <p:sp>
        <p:nvSpPr>
          <p:cNvPr id="29" name="Text 27"/>
          <p:cNvSpPr/>
          <p:nvPr/>
        </p:nvSpPr>
        <p:spPr>
          <a:xfrm>
            <a:off x="3441700" y="5537200"/>
            <a:ext cx="2482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关卡订单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267450" y="4699000"/>
            <a:ext cx="2565400" cy="88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4700" dirty="0"/>
          </a:p>
        </p:txBody>
      </p:sp>
      <p:sp>
        <p:nvSpPr>
          <p:cNvPr id="31" name="Text 29"/>
          <p:cNvSpPr/>
          <p:nvPr/>
        </p:nvSpPr>
        <p:spPr>
          <a:xfrm>
            <a:off x="6286500" y="5537200"/>
            <a:ext cx="2482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制作工位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9112250" y="4699000"/>
            <a:ext cx="2565400" cy="88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4700" dirty="0"/>
          </a:p>
        </p:txBody>
      </p:sp>
      <p:sp>
        <p:nvSpPr>
          <p:cNvPr id="33" name="Text 31"/>
          <p:cNvSpPr/>
          <p:nvPr/>
        </p:nvSpPr>
        <p:spPr>
          <a:xfrm>
            <a:off x="9131300" y="5537200"/>
            <a:ext cx="2482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逻辑测试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590550" y="6083300"/>
            <a:ext cx="10985500" cy="283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已完成桌面、窄屏、触屏及完整四场景流程检查。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ITERATION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这一轮迭代，围绕体验中的具体阻力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重点是让玩家更容易看清目标、开始操作，并理解结果。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095500"/>
            <a:ext cx="11074400" cy="1117600"/>
          </a:xfrm>
          <a:prstGeom prst="roundRect">
            <a:avLst>
              <a:gd name="adj" fmla="val 1022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650" y="2336800"/>
            <a:ext cx="1943100" cy="435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首页展示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009900" y="2266950"/>
            <a:ext cx="32385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原先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09900" y="2603500"/>
            <a:ext cx="33401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多件同时旋转，观察焦点分散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900" y="2660650"/>
            <a:ext cx="381000" cy="1270"/>
          </a:xfrm>
          <a:prstGeom prst="line">
            <a:avLst/>
          </a:prstGeom>
          <a:noFill/>
          <a:ln w="25400">
            <a:solidFill>
              <a:srgbClr val="285487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245350" y="2266950"/>
            <a:ext cx="39751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245350" y="2603500"/>
            <a:ext cx="3975100" cy="32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单件展示 + 悬停暂停 + 闲置切换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58800" y="3390900"/>
            <a:ext cx="11074400" cy="1117600"/>
          </a:xfrm>
          <a:prstGeom prst="roundRect">
            <a:avLst>
              <a:gd name="adj" fmla="val 1022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650" y="3632200"/>
            <a:ext cx="1943100" cy="435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工坊操作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3009900" y="3562350"/>
            <a:ext cx="32385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原先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009900" y="3898900"/>
            <a:ext cx="33401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长按 E，进入工位需要等待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565900" y="3956050"/>
            <a:ext cx="381000" cy="1270"/>
          </a:xfrm>
          <a:prstGeom prst="line">
            <a:avLst/>
          </a:prstGeom>
          <a:noFill/>
          <a:ln w="25400">
            <a:solidFill>
              <a:srgbClr val="7C9483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245350" y="3562350"/>
            <a:ext cx="39751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245350" y="3898900"/>
            <a:ext cx="3975100" cy="32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 F + 可旋转与缩放的视角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58800" y="4686300"/>
            <a:ext cx="11074400" cy="1117600"/>
          </a:xfrm>
          <a:prstGeom prst="roundRect">
            <a:avLst>
              <a:gd name="adj" fmla="val 10227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5650" y="4927600"/>
            <a:ext cx="1943100" cy="435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烧窑反馈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3009900" y="4857750"/>
            <a:ext cx="32385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原先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009900" y="5194300"/>
            <a:ext cx="33401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烧制与最终奖励联系较弱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565900" y="5251450"/>
            <a:ext cx="381000" cy="1270"/>
          </a:xfrm>
          <a:prstGeom prst="line">
            <a:avLst/>
          </a:prstGeom>
          <a:noFill/>
          <a:ln w="25400">
            <a:solidFill>
              <a:srgbClr val="BB6842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245350" y="4857750"/>
            <a:ext cx="39751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45350" y="5194300"/>
            <a:ext cx="3975100" cy="321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必经判定 + 三档火候 + 金币加成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800" y="222250"/>
            <a:ext cx="63500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TERRA / 景德镇瓷器之旅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826500" y="222250"/>
            <a:ext cx="2806700" cy="208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REFLECTION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58800" y="692150"/>
            <a:ext cx="10985500" cy="662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5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完成可玩的闭环，继续验证体验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584200" y="1333500"/>
            <a:ext cx="10795000" cy="30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当前成果与后续计划分开呈现，避免把设想当作已经完成。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58800" y="6464300"/>
            <a:ext cx="11074400" cy="1270"/>
          </a:xfrm>
          <a:prstGeom prst="line">
            <a:avLst/>
          </a:prstGeom>
          <a:noFill/>
          <a:ln w="6350">
            <a:solidFill>
              <a:srgbClr val="D5DC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8800" y="6565900"/>
            <a:ext cx="8890000" cy="198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· 2026.10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76000" y="6546850"/>
            <a:ext cx="444500" cy="227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800" y="2133600"/>
            <a:ext cx="3479800" cy="3308350"/>
          </a:xfrm>
          <a:prstGeom prst="roundRect">
            <a:avLst>
              <a:gd name="adj" fmla="val 345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8800" y="2133600"/>
            <a:ext cx="38100" cy="3308350"/>
          </a:xfrm>
          <a:prstGeom prst="rect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300" y="2311400"/>
            <a:ext cx="30988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300" y="2686050"/>
            <a:ext cx="30988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正面编辑，非体积拉坯</a:t>
            </a:r>
            <a:endParaRPr lang="en-US" sz="2150" dirty="0"/>
          </a:p>
        </p:txBody>
      </p:sp>
      <p:sp>
        <p:nvSpPr>
          <p:cNvPr id="13" name="Text 11"/>
          <p:cNvSpPr/>
          <p:nvPr/>
        </p:nvSpPr>
        <p:spPr>
          <a:xfrm>
            <a:off x="749300" y="3194050"/>
            <a:ext cx="3098800" cy="1119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112 × 112 正面数据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记录形状与颜色，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通过渲染与成品预览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表现立体感。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6100" y="2133600"/>
            <a:ext cx="3479800" cy="3308350"/>
          </a:xfrm>
          <a:prstGeom prst="roundRect">
            <a:avLst>
              <a:gd name="adj" fmla="val 345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56100" y="2133600"/>
            <a:ext cx="38100" cy="3308350"/>
          </a:xfrm>
          <a:prstGeom prst="rect">
            <a:avLst/>
          </a:prstGeom>
          <a:solidFill>
            <a:srgbClr val="7C9483"/>
          </a:solidFill>
          <a:ln w="12700">
            <a:solidFill>
              <a:srgbClr val="7C948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46600" y="2311400"/>
            <a:ext cx="30988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7C94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内容边界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46600" y="2686050"/>
            <a:ext cx="30988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四站共享五类订单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4546600" y="3194050"/>
            <a:ext cx="309880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场景、建筑和纹样有变化，但任务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结构复用。后续可增加器型与文化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讲解的关联。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53400" y="2133600"/>
            <a:ext cx="3479800" cy="3308350"/>
          </a:xfrm>
          <a:prstGeom prst="roundRect">
            <a:avLst>
              <a:gd name="adj" fmla="val 3455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3400" y="2133600"/>
            <a:ext cx="38100" cy="3308350"/>
          </a:xfrm>
          <a:prstGeom prst="rect">
            <a:avLst/>
          </a:prstGeom>
          <a:solidFill>
            <a:srgbClr val="BB6842"/>
          </a:solidFill>
          <a:ln w="12700">
            <a:solidFill>
              <a:srgbClr val="BB684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43900" y="2311400"/>
            <a:ext cx="3098800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BB68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43900" y="2686050"/>
            <a:ext cx="3098800" cy="406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用新手测试寻找改进点</a:t>
            </a:r>
            <a:endParaRPr lang="en-US" sz="2150" dirty="0"/>
          </a:p>
        </p:txBody>
      </p:sp>
      <p:sp>
        <p:nvSpPr>
          <p:cNvPr id="23" name="Text 21"/>
          <p:cNvSpPr/>
          <p:nvPr/>
        </p:nvSpPr>
        <p:spPr>
          <a:xfrm>
            <a:off x="8343900" y="3194050"/>
            <a:ext cx="3098800" cy="84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重点观察边缘抓取、烧窑时机和地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图理解；再迭代引导、工具手感与</a:t>
            </a:r>
            <a:endParaRPr lang="en-US" sz="1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内容层次。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6900" y="5886450"/>
            <a:ext cx="1096010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拟观察：首次成功操作 / 首次通关过程 / 火候规则理解。尚未开展正式用户研究。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ECNU\BOKE\Porcelain_Workshop_Code\deliverables\terra-course\assets\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055" y="361950"/>
            <a:ext cx="1247590" cy="4889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66100" y="469900"/>
            <a:ext cx="3460750" cy="27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576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课程作品展示 / 谢谢观看</a:t>
            </a:r>
            <a:endParaRPr lang="en-US" sz="1450" dirty="0"/>
          </a:p>
        </p:txBody>
      </p:sp>
      <p:sp>
        <p:nvSpPr>
          <p:cNvPr id="4" name="Text 1"/>
          <p:cNvSpPr/>
          <p:nvPr/>
        </p:nvSpPr>
        <p:spPr>
          <a:xfrm>
            <a:off x="558800" y="1644650"/>
            <a:ext cx="7556500" cy="169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打开链接，</a:t>
            </a:r>
            <a:endParaRPr lang="en-US" sz="4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70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亲手做一件瓷器。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03250" y="3949700"/>
            <a:ext cx="7112000" cy="350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50" b="1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现场演示建议 · 约 60 秒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622300" y="4559300"/>
            <a:ext cx="241300" cy="2413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2300" y="4585843"/>
            <a:ext cx="241300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22300" y="4972050"/>
            <a:ext cx="1593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首页观察成品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2413000" y="4559300"/>
            <a:ext cx="241300" cy="2413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13000" y="4585843"/>
            <a:ext cx="241300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413000" y="4972050"/>
            <a:ext cx="1593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地图进入工坊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203700" y="4559300"/>
            <a:ext cx="241300" cy="2413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3700" y="4585843"/>
            <a:ext cx="241300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203700" y="4972050"/>
            <a:ext cx="1593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塑形与烧窑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994400" y="4559300"/>
            <a:ext cx="241300" cy="241300"/>
          </a:xfrm>
          <a:prstGeom prst="ellipse">
            <a:avLst/>
          </a:prstGeom>
          <a:solidFill>
            <a:srgbClr val="285487"/>
          </a:solidFill>
          <a:ln w="12700">
            <a:solidFill>
              <a:srgbClr val="285487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94400" y="4585843"/>
            <a:ext cx="241300" cy="18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994400" y="4972050"/>
            <a:ext cx="15938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24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展示结算藏品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8737600" y="1847850"/>
            <a:ext cx="2857500" cy="3111500"/>
          </a:xfrm>
          <a:prstGeom prst="roundRect">
            <a:avLst>
              <a:gd name="adj" fmla="val 4889"/>
            </a:avLst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pic>
        <p:nvPicPr>
          <p:cNvPr id="19" name="Image 1" descr="D:\ECNU\BOKE\Porcelain_Workshop_Code\deliverables\terra-course\assets\qr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0" y="2082800"/>
            <a:ext cx="2247900" cy="2247900"/>
          </a:xfrm>
          <a:prstGeom prst="rect">
            <a:avLst/>
          </a:prstGeom>
        </p:spPr>
      </p:pic>
      <p:sp>
        <p:nvSpPr>
          <p:cNvPr id="20" name="Text 16">
            <a:hlinkClick r:id="rId4" tooltip=""/>
          </p:cNvPr>
          <p:cNvSpPr/>
          <p:nvPr/>
        </p:nvSpPr>
        <p:spPr>
          <a:xfrm>
            <a:off x="8934450" y="4508500"/>
            <a:ext cx="2470150" cy="293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50" b="1" u="sng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扫码体验在线版本</a:t>
            </a:r>
            <a:endParaRPr lang="en-US" sz="1550" dirty="0"/>
          </a:p>
        </p:txBody>
      </p:sp>
      <p:sp>
        <p:nvSpPr>
          <p:cNvPr id="21" name="Shape 17"/>
          <p:cNvSpPr/>
          <p:nvPr/>
        </p:nvSpPr>
        <p:spPr>
          <a:xfrm>
            <a:off x="565150" y="5854700"/>
            <a:ext cx="11055350" cy="1270"/>
          </a:xfrm>
          <a:prstGeom prst="line">
            <a:avLst/>
          </a:prstGeom>
          <a:noFill/>
          <a:ln w="12700">
            <a:solidFill>
              <a:srgbClr val="D5DCD8"/>
            </a:solidFill>
            <a:prstDash val="solid"/>
          </a:ln>
        </p:spPr>
      </p:sp>
      <p:sp>
        <p:nvSpPr>
          <p:cNvPr id="22" name="Text 18">
            <a:hlinkClick r:id="rId5" tooltip=""/>
          </p:cNvPr>
          <p:cNvSpPr/>
          <p:nvPr/>
        </p:nvSpPr>
        <p:spPr>
          <a:xfrm>
            <a:off x="603250" y="6064250"/>
            <a:ext cx="11004550" cy="264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u="sng" dirty="0">
                <a:solidFill>
                  <a:srgbClr val="2854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https://bmc-gordon0921.github.io/Porcelain_Workshop/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课程作品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景德镇瓷器之旅_课程汇报</dc:title>
  <dc:subject>课程汇报与作品展示，14 页，约 8 分钟，附逐页讲稿</dc:subject>
  <dc:creator>Terra · 景德镇瓷器之旅</dc:creator>
  <cp:lastModifiedBy>Terra · 景德镇瓷器之旅</cp:lastModifiedBy>
  <cp:revision>1</cp:revision>
  <dcterms:created xsi:type="dcterms:W3CDTF">2026-10-24T11:02:22Z</dcterms:created>
  <dcterms:modified xsi:type="dcterms:W3CDTF">2026-10-24T11:02:22Z</dcterms:modified>
</cp:coreProperties>
</file>