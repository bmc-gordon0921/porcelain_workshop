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展示：单件 3D 成品，按青花、玲珑、窑变、粉彩循环。
操作：左键水平拖动；悬停显示简介并暂停。
跳转：离开后闲置 5 秒切换；按钮进入地图或工坊。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内容：按 1—4 号地点介绍场景与瓷器主题。
控制：可暂停、跳过路线动画、选择章节或重播。
约束：查看未解锁地点不会越过关卡；重播保留进度。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移动：WASD / 方向键移动，走近工位按 F。
视角：左键旋转、滚轮缩放；仰角 0°—66°。
信息：右侧显示订单、金币、关卡与本场景贴画目标。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抓取：左右及上下外边缘可抓取；远离边缘时提示。
变形：本笔方向固定，作用范围平滑，颜色随形状移动。
容错：支持撤销 / 重做；拖回起点不新增撤销记录。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工具：瓷白与钴蓝画笔；滑块或 [ / ] 改变大小。
规则：上色只改变已有表面的颜色，不补回被刻去的瓷泥。
保存：保存并离开或按 Esc，带着作品返回工坊。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判定：单轮 9 秒：50%—80% 成功；
62%—70% 完美（边界计入）。
输入：按一次空格或触屏按钮；超时记为一般。
状态：面板关闭即暂停；结果会保存。
实际修改作品后需重新烧制。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评分：形状 65% + 上色 35%，达到 80% 通关。
奖励：基础金币 × 火候倍率：1 / 1.1 / 1.25。
反馈：展示基础奖励与加成；未通过可重试，金币保留。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解锁：本场景五关通过，且余额达到 400 币。
贴花：购买后先选贴画，再点击瓷碗或“贴到碗上”。
旅程：完成贴花后才可进入下一站；最终集齐四件成品。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布局：订单、工坊、操作键分区；制作面板支持滚动。
输入：屏幕方向键与“操作 F”；烧窑提供点击按钮。
阅读：辅助信息至少 12px；触屏直接显示器物简介。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889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800" y="698500"/>
            <a:ext cx="11049000" cy="624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从一抔泥，到四件藏品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84200" y="1333500"/>
            <a:ext cx="10922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主流程、返回路径与关键门槛｜对应当前已实现版本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800" y="22225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8500" y="23495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500" y="23774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200" y="26670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11200" y="30162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单件展示 / 选择入口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4000" y="22225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3700" y="23495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3700" y="23774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46400" y="26670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地图介绍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946400" y="30162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可进入，也可跳过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2225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8900" y="23495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8900" y="23774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81600" y="26670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工坊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5181600" y="30162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移动到对应工作台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4400" y="22225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4100" y="23495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4100" y="23774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16800" y="26670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自由制作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416800" y="30162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塑形 / 雕刻 / 上色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99600" y="22225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9300" y="2349500"/>
            <a:ext cx="254000" cy="254000"/>
          </a:xfrm>
          <a:prstGeom prst="ellipse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9300" y="23774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52000" y="26670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烧窑判定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9652000" y="30162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秒内按一次空格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99600" y="41910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39300" y="43180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39300" y="43459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52000" y="46355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作品结算</a:t>
            </a:r>
            <a:endParaRPr lang="en-US" sz="2050" dirty="0"/>
          </a:p>
        </p:txBody>
      </p:sp>
      <p:sp>
        <p:nvSpPr>
          <p:cNvPr id="34" name="Text 32"/>
          <p:cNvSpPr/>
          <p:nvPr/>
        </p:nvSpPr>
        <p:spPr>
          <a:xfrm>
            <a:off x="9652000" y="49847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 通关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64400" y="41910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4100" y="43180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4100" y="43459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16800" y="46355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贴花</a:t>
            </a:r>
            <a:endParaRPr lang="en-US" sz="2050" dirty="0"/>
          </a:p>
        </p:txBody>
      </p:sp>
      <p:sp>
        <p:nvSpPr>
          <p:cNvPr id="39" name="Text 37"/>
          <p:cNvSpPr/>
          <p:nvPr/>
        </p:nvSpPr>
        <p:spPr>
          <a:xfrm>
            <a:off x="7416800" y="49847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五关完成 + 400 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41910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8900" y="43180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8900" y="43459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81600" y="46355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场景成品</a:t>
            </a:r>
            <a:endParaRPr lang="en-US" sz="2050" dirty="0"/>
          </a:p>
        </p:txBody>
      </p:sp>
      <p:sp>
        <p:nvSpPr>
          <p:cNvPr id="44" name="Text 42"/>
          <p:cNvSpPr/>
          <p:nvPr/>
        </p:nvSpPr>
        <p:spPr>
          <a:xfrm>
            <a:off x="5181600" y="49847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贴好后收入藏品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94000" y="41910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33700" y="43180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33700" y="43459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46400" y="46355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换站 / 完成</a:t>
            </a:r>
            <a:endParaRPr lang="en-US" sz="2050" dirty="0"/>
          </a:p>
        </p:txBody>
      </p:sp>
      <p:sp>
        <p:nvSpPr>
          <p:cNvPr id="49" name="Text 47"/>
          <p:cNvSpPr/>
          <p:nvPr/>
        </p:nvSpPr>
        <p:spPr>
          <a:xfrm>
            <a:off x="2946400" y="49847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按已完成站数继续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8800" y="4191000"/>
            <a:ext cx="1930400" cy="1098550"/>
          </a:xfrm>
          <a:prstGeom prst="roundRect">
            <a:avLst>
              <a:gd name="adj" fmla="val 1040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8500" y="4318000"/>
            <a:ext cx="254000" cy="2540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8500" y="4345940"/>
            <a:ext cx="25400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1200" y="4635500"/>
            <a:ext cx="165100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四件集齐</a:t>
            </a:r>
            <a:endParaRPr lang="en-US" sz="2050" dirty="0"/>
          </a:p>
        </p:txBody>
      </p:sp>
      <p:sp>
        <p:nvSpPr>
          <p:cNvPr id="54" name="Text 52"/>
          <p:cNvSpPr/>
          <p:nvPr/>
        </p:nvSpPr>
        <p:spPr>
          <a:xfrm>
            <a:off x="711200" y="4984750"/>
            <a:ext cx="1663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终站贴花后完成游历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27300" y="2774950"/>
            <a:ext cx="1905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762500" y="2774950"/>
            <a:ext cx="1905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997700" y="2774950"/>
            <a:ext cx="1905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232900" y="2774950"/>
            <a:ext cx="1905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464800" y="3371850"/>
            <a:ext cx="1270" cy="723900"/>
          </a:xfrm>
          <a:prstGeom prst="line">
            <a:avLst/>
          </a:prstGeom>
          <a:noFill/>
          <a:ln w="25400">
            <a:solidFill>
              <a:srgbClr val="BB6842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524000" y="1917700"/>
            <a:ext cx="1270" cy="23495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24000" y="1917700"/>
            <a:ext cx="4470400" cy="127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94400" y="1917700"/>
            <a:ext cx="1270" cy="23495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2222500" y="1676400"/>
            <a:ext cx="3429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跳过地图介绍，按存档进入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 flipV="1">
            <a:off x="3759200" y="3822700"/>
            <a:ext cx="1270" cy="29845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59200" y="3822700"/>
            <a:ext cx="2235200" cy="127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5994400" y="3397250"/>
            <a:ext cx="1270" cy="425450"/>
          </a:xfrm>
          <a:prstGeom prst="line">
            <a:avLst/>
          </a:prstGeom>
          <a:noFill/>
          <a:ln w="12700">
            <a:solidFill>
              <a:srgbClr val="285487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3860800" y="3549650"/>
            <a:ext cx="288925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站：继续下一站制作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 flipH="1">
            <a:off x="9271000" y="4749800"/>
            <a:ext cx="1651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 flipH="1">
            <a:off x="7035800" y="4749800"/>
            <a:ext cx="1651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H="1">
            <a:off x="4800600" y="4749800"/>
            <a:ext cx="1651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H="1">
            <a:off x="2565400" y="4749800"/>
            <a:ext cx="1651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584200" y="5791200"/>
            <a:ext cx="109537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本站未满五关：返回工坊继续订单；未达 80% 可重试，已获金币保留。</a:t>
            </a:r>
            <a:endParaRPr lang="en-US" sz="1550" dirty="0"/>
          </a:p>
        </p:txBody>
      </p:sp>
      <p:sp>
        <p:nvSpPr>
          <p:cNvPr id="73" name="Text 71"/>
          <p:cNvSpPr/>
          <p:nvPr/>
        </p:nvSpPr>
        <p:spPr>
          <a:xfrm>
            <a:off x="584200" y="6146800"/>
            <a:ext cx="109537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注：实际修改作品后需重新烧窑；贴花与场景收藏在本站五关全部通过后开放。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首页｜先看到成品，再决定出发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4247" y="1873865"/>
            <a:ext cx="966978" cy="19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5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跳过介绍</a:t>
            </a:r>
            <a:endParaRPr lang="en-US" sz="1015" dirty="0"/>
          </a:p>
        </p:txBody>
      </p:sp>
      <p:sp>
        <p:nvSpPr>
          <p:cNvPr id="13" name="Text 11"/>
          <p:cNvSpPr/>
          <p:nvPr/>
        </p:nvSpPr>
        <p:spPr>
          <a:xfrm>
            <a:off x="902614" y="2612103"/>
            <a:ext cx="2256282" cy="560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61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景德镇</a:t>
            </a:r>
            <a:endParaRPr lang="en-US" sz="2961" dirty="0"/>
          </a:p>
        </p:txBody>
      </p:sp>
      <p:sp>
        <p:nvSpPr>
          <p:cNvPr id="14" name="Text 12"/>
          <p:cNvSpPr/>
          <p:nvPr/>
        </p:nvSpPr>
        <p:spPr>
          <a:xfrm>
            <a:off x="913359" y="3176639"/>
            <a:ext cx="2256282" cy="23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千年瓷都 · 窑火不息</a:t>
            </a:r>
            <a:endParaRPr lang="en-US" sz="1227" dirty="0"/>
          </a:p>
        </p:txBody>
      </p:sp>
      <p:sp>
        <p:nvSpPr>
          <p:cNvPr id="15" name="Shape 13"/>
          <p:cNvSpPr/>
          <p:nvPr/>
        </p:nvSpPr>
        <p:spPr>
          <a:xfrm>
            <a:off x="913359" y="3529473"/>
            <a:ext cx="1611630" cy="48854"/>
          </a:xfrm>
          <a:prstGeom prst="rect">
            <a:avLst/>
          </a:prstGeom>
          <a:solidFill>
            <a:srgbClr val="E3E7E3"/>
          </a:solidFill>
          <a:ln w="12700">
            <a:solidFill>
              <a:srgbClr val="E3E7E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3359" y="3670607"/>
            <a:ext cx="1407490" cy="48854"/>
          </a:xfrm>
          <a:prstGeom prst="rect">
            <a:avLst/>
          </a:prstGeom>
          <a:solidFill>
            <a:srgbClr val="E3E7E3"/>
          </a:solidFill>
          <a:ln w="12700">
            <a:solidFill>
              <a:srgbClr val="E3E7E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359" y="3811741"/>
            <a:ext cx="1203350" cy="48854"/>
          </a:xfrm>
          <a:prstGeom prst="rect">
            <a:avLst/>
          </a:prstGeom>
          <a:solidFill>
            <a:srgbClr val="E3E7E3"/>
          </a:solidFill>
          <a:ln w="12700">
            <a:solidFill>
              <a:srgbClr val="E3E7E3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8339" y="2579534"/>
            <a:ext cx="1772793" cy="1519903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13359" y="4262284"/>
            <a:ext cx="1557909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7080" y="4321994"/>
            <a:ext cx="1450467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进入地图介绍</a:t>
            </a:r>
            <a:endParaRPr lang="en-US" sz="1184" dirty="0"/>
          </a:p>
        </p:txBody>
      </p:sp>
      <p:sp>
        <p:nvSpPr>
          <p:cNvPr id="21" name="Shape 18"/>
          <p:cNvSpPr/>
          <p:nvPr/>
        </p:nvSpPr>
        <p:spPr>
          <a:xfrm>
            <a:off x="3594037" y="4273140"/>
            <a:ext cx="1987677" cy="537394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17595" y="4397990"/>
            <a:ext cx="1772793" cy="23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器物名称 / 悬停简介</a:t>
            </a:r>
            <a:endParaRPr lang="en-US" sz="1227" dirty="0"/>
          </a:p>
        </p:txBody>
      </p:sp>
      <p:sp>
        <p:nvSpPr>
          <p:cNvPr id="23" name="Shape 20"/>
          <p:cNvSpPr/>
          <p:nvPr/>
        </p:nvSpPr>
        <p:spPr>
          <a:xfrm>
            <a:off x="5055248" y="2308123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55248" y="2331760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25" name="Shape 22"/>
          <p:cNvSpPr/>
          <p:nvPr/>
        </p:nvSpPr>
        <p:spPr>
          <a:xfrm>
            <a:off x="3432874" y="4305710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32874" y="4329347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27" name="Shape 24"/>
          <p:cNvSpPr/>
          <p:nvPr/>
        </p:nvSpPr>
        <p:spPr>
          <a:xfrm>
            <a:off x="719963" y="4262284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9963" y="4285921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46" dirty="0"/>
          </a:p>
        </p:txBody>
      </p:sp>
      <p:sp>
        <p:nvSpPr>
          <p:cNvPr id="29" name="Shape 26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30" name="Image 1" descr="D:\ECNU\BOKE\Porcelain_Workshop_Code\deliverables\terra-course\assets\home-h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836737"/>
            <a:ext cx="5156200" cy="3222625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4" name="Text 30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1450" dirty="0"/>
          </a:p>
        </p:txBody>
      </p:sp>
      <p:sp>
        <p:nvSpPr>
          <p:cNvPr id="35" name="Text 31"/>
          <p:cNvSpPr/>
          <p:nvPr/>
        </p:nvSpPr>
        <p:spPr>
          <a:xfrm>
            <a:off x="6985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 3D 成品，按青花、玲珑、窑变、粉彩循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环。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39" name="Text 35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450" dirty="0"/>
          </a:p>
        </p:txBody>
      </p:sp>
      <p:sp>
        <p:nvSpPr>
          <p:cNvPr id="40" name="Text 36"/>
          <p:cNvSpPr/>
          <p:nvPr/>
        </p:nvSpPr>
        <p:spPr>
          <a:xfrm>
            <a:off x="442595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左键水平拖动；悬停显示简介并暂停。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4" name="Text 40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</a:t>
            </a:r>
            <a:endParaRPr lang="en-US" sz="1450" dirty="0"/>
          </a:p>
        </p:txBody>
      </p:sp>
      <p:sp>
        <p:nvSpPr>
          <p:cNvPr id="45" name="Text 41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离开后闲置 5 秒切换；按钮进入地图或工坊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地图｜把地点故事连接成旅程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940" y="2470969"/>
            <a:ext cx="1799653" cy="72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3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一张地图，四</a:t>
            </a:r>
            <a:endParaRPr lang="en-US" sz="20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03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处瓷韵</a:t>
            </a:r>
            <a:endParaRPr lang="en-US" sz="2030" dirty="0"/>
          </a:p>
        </p:txBody>
      </p:sp>
      <p:sp>
        <p:nvSpPr>
          <p:cNvPr id="13" name="Text 11"/>
          <p:cNvSpPr/>
          <p:nvPr/>
        </p:nvSpPr>
        <p:spPr>
          <a:xfrm>
            <a:off x="784428" y="3258062"/>
            <a:ext cx="1611630" cy="45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69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地点故事</a:t>
            </a:r>
            <a:endParaRPr lang="en-US" sz="1269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69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当前章节与路线提示</a:t>
            </a:r>
            <a:endParaRPr lang="en-US" sz="1269" dirty="0"/>
          </a:p>
        </p:txBody>
      </p:sp>
      <p:sp>
        <p:nvSpPr>
          <p:cNvPr id="14" name="Shape 12"/>
          <p:cNvSpPr/>
          <p:nvPr/>
        </p:nvSpPr>
        <p:spPr>
          <a:xfrm>
            <a:off x="784428" y="4349135"/>
            <a:ext cx="1611630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149" y="4408846"/>
            <a:ext cx="1504188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从古窑出发</a:t>
            </a:r>
            <a:endParaRPr lang="en-US" sz="1184" dirty="0"/>
          </a:p>
        </p:txBody>
      </p:sp>
      <p:sp>
        <p:nvSpPr>
          <p:cNvPr id="16" name="Shape 14"/>
          <p:cNvSpPr/>
          <p:nvPr/>
        </p:nvSpPr>
        <p:spPr>
          <a:xfrm>
            <a:off x="2825826" y="2318979"/>
            <a:ext cx="2874074" cy="2404704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898" y="2633816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898" y="2657453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19" name="Shape 17"/>
          <p:cNvSpPr/>
          <p:nvPr/>
        </p:nvSpPr>
        <p:spPr>
          <a:xfrm>
            <a:off x="4625480" y="2715240"/>
            <a:ext cx="585559" cy="939083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0457" y="3572899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0457" y="3596536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22" name="Shape 20"/>
          <p:cNvSpPr/>
          <p:nvPr/>
        </p:nvSpPr>
        <p:spPr>
          <a:xfrm flipH="1">
            <a:off x="3373780" y="3654323"/>
            <a:ext cx="1837258" cy="146562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3199" y="3719461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3199" y="3743099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46" dirty="0"/>
          </a:p>
        </p:txBody>
      </p:sp>
      <p:sp>
        <p:nvSpPr>
          <p:cNvPr id="25" name="Shape 23"/>
          <p:cNvSpPr/>
          <p:nvPr/>
        </p:nvSpPr>
        <p:spPr>
          <a:xfrm>
            <a:off x="3373780" y="3800885"/>
            <a:ext cx="752094" cy="526538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5293" y="4245999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5293" y="4269636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46" dirty="0"/>
          </a:p>
        </p:txBody>
      </p:sp>
      <p:sp>
        <p:nvSpPr>
          <p:cNvPr id="28" name="Text 26"/>
          <p:cNvSpPr/>
          <p:nvPr/>
        </p:nvSpPr>
        <p:spPr>
          <a:xfrm>
            <a:off x="3406013" y="2373261"/>
            <a:ext cx="1880235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景德镇手绘地图</a:t>
            </a:r>
            <a:endParaRPr lang="en-US" sz="1184" dirty="0"/>
          </a:p>
        </p:txBody>
      </p:sp>
      <p:sp>
        <p:nvSpPr>
          <p:cNvPr id="29" name="Text 27"/>
          <p:cNvSpPr/>
          <p:nvPr/>
        </p:nvSpPr>
        <p:spPr>
          <a:xfrm>
            <a:off x="2976245" y="4832248"/>
            <a:ext cx="2632329" cy="20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8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 / 跳过路线 / 重播</a:t>
            </a:r>
            <a:endParaRPr lang="en-US" sz="1058" dirty="0"/>
          </a:p>
        </p:txBody>
      </p:sp>
      <p:sp>
        <p:nvSpPr>
          <p:cNvPr id="30" name="Shape 28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31" name="Image 0" descr="D:\ECNU\BOKE\Porcelain_Workshop_Code\deliverables\terra-course\assets\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836737"/>
            <a:ext cx="5156200" cy="3222625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5" name="Text 32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1—4 号地点介绍场景与瓷器主题。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40" name="Text 37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442595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可暂停、跳过路线动画、选择章节或重播。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5" name="Text 42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查看未解锁地点不会越过关卡；重播保留进度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工坊｜场景探索与制作入口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95712" y="1868436"/>
            <a:ext cx="1665351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 / 声音 / 帮助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7730" y="2275553"/>
            <a:ext cx="3738982" cy="2377563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898" y="2275553"/>
            <a:ext cx="1262444" cy="2377563"/>
          </a:xfrm>
          <a:prstGeom prst="rect">
            <a:avLst/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084" y="2405831"/>
            <a:ext cx="1020699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11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当前订单</a:t>
            </a:r>
            <a:endParaRPr lang="en-US" sz="1311" dirty="0"/>
          </a:p>
        </p:txBody>
      </p:sp>
      <p:sp>
        <p:nvSpPr>
          <p:cNvPr id="16" name="Shape 14"/>
          <p:cNvSpPr/>
          <p:nvPr/>
        </p:nvSpPr>
        <p:spPr>
          <a:xfrm>
            <a:off x="4700689" y="2742381"/>
            <a:ext cx="940118" cy="814234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0526" y="3024648"/>
            <a:ext cx="805815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目标参考</a:t>
            </a:r>
            <a:endParaRPr lang="en-US" sz="1184" dirty="0"/>
          </a:p>
        </p:txBody>
      </p:sp>
      <p:sp>
        <p:nvSpPr>
          <p:cNvPr id="18" name="Text 16"/>
          <p:cNvSpPr/>
          <p:nvPr/>
        </p:nvSpPr>
        <p:spPr>
          <a:xfrm>
            <a:off x="4652340" y="3773744"/>
            <a:ext cx="1031443" cy="44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 / 金币</a:t>
            </a:r>
            <a:endParaRPr lang="en-US" sz="1227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贴画目标</a:t>
            </a:r>
            <a:endParaRPr lang="en-US" sz="1227" dirty="0"/>
          </a:p>
        </p:txBody>
      </p:sp>
      <p:sp>
        <p:nvSpPr>
          <p:cNvPr id="19" name="Shape 17"/>
          <p:cNvSpPr/>
          <p:nvPr/>
        </p:nvSpPr>
        <p:spPr>
          <a:xfrm>
            <a:off x="881126" y="2552393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707" y="2709811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取泥</a:t>
            </a:r>
            <a:endParaRPr lang="en-US" sz="1311" dirty="0"/>
          </a:p>
        </p:txBody>
      </p:sp>
      <p:sp>
        <p:nvSpPr>
          <p:cNvPr id="21" name="Shape 19"/>
          <p:cNvSpPr/>
          <p:nvPr/>
        </p:nvSpPr>
        <p:spPr>
          <a:xfrm>
            <a:off x="2009267" y="2449256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9849" y="2606675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塑形</a:t>
            </a:r>
            <a:endParaRPr lang="en-US" sz="1311" dirty="0"/>
          </a:p>
        </p:txBody>
      </p:sp>
      <p:sp>
        <p:nvSpPr>
          <p:cNvPr id="23" name="Shape 21"/>
          <p:cNvSpPr/>
          <p:nvPr/>
        </p:nvSpPr>
        <p:spPr>
          <a:xfrm>
            <a:off x="3137408" y="2557821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7989" y="2715240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雕刻</a:t>
            </a:r>
            <a:endParaRPr lang="en-US" sz="1311" dirty="0"/>
          </a:p>
        </p:txBody>
      </p:sp>
      <p:sp>
        <p:nvSpPr>
          <p:cNvPr id="25" name="Shape 23"/>
          <p:cNvSpPr/>
          <p:nvPr/>
        </p:nvSpPr>
        <p:spPr>
          <a:xfrm>
            <a:off x="897242" y="3610897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824" y="3768315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窑炉</a:t>
            </a:r>
            <a:endParaRPr lang="en-US" sz="1311" dirty="0"/>
          </a:p>
        </p:txBody>
      </p:sp>
      <p:sp>
        <p:nvSpPr>
          <p:cNvPr id="27" name="Shape 25"/>
          <p:cNvSpPr/>
          <p:nvPr/>
        </p:nvSpPr>
        <p:spPr>
          <a:xfrm>
            <a:off x="2095221" y="3638038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5802" y="3795456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上色</a:t>
            </a:r>
            <a:endParaRPr lang="en-US" sz="1311" dirty="0"/>
          </a:p>
        </p:txBody>
      </p:sp>
      <p:sp>
        <p:nvSpPr>
          <p:cNvPr id="29" name="Shape 27"/>
          <p:cNvSpPr/>
          <p:nvPr/>
        </p:nvSpPr>
        <p:spPr>
          <a:xfrm>
            <a:off x="3277083" y="3605469"/>
            <a:ext cx="778955" cy="542823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7664" y="3762887"/>
            <a:ext cx="617791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311" dirty="0"/>
          </a:p>
        </p:txBody>
      </p:sp>
      <p:sp>
        <p:nvSpPr>
          <p:cNvPr id="31" name="Shape 29"/>
          <p:cNvSpPr/>
          <p:nvPr/>
        </p:nvSpPr>
        <p:spPr>
          <a:xfrm>
            <a:off x="2385314" y="3176639"/>
            <a:ext cx="279349" cy="279349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3012" y="3230921"/>
            <a:ext cx="752094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86546" y="4267712"/>
            <a:ext cx="1611630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67" y="4327423"/>
            <a:ext cx="1504188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靠近工位按 F</a:t>
            </a:r>
            <a:endParaRPr lang="en-US" sz="1184" dirty="0"/>
          </a:p>
        </p:txBody>
      </p:sp>
      <p:sp>
        <p:nvSpPr>
          <p:cNvPr id="35" name="Text 33"/>
          <p:cNvSpPr/>
          <p:nvPr/>
        </p:nvSpPr>
        <p:spPr>
          <a:xfrm>
            <a:off x="730707" y="4843104"/>
            <a:ext cx="4996053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WASD 移动 · 左键旋转 · 滚轮缩放</a:t>
            </a:r>
            <a:endParaRPr lang="en-US" sz="1184" dirty="0"/>
          </a:p>
        </p:txBody>
      </p:sp>
      <p:sp>
        <p:nvSpPr>
          <p:cNvPr id="36" name="Shape 34"/>
          <p:cNvSpPr/>
          <p:nvPr/>
        </p:nvSpPr>
        <p:spPr>
          <a:xfrm>
            <a:off x="4131247" y="2367833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31247" y="2391470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38" name="Shape 36"/>
          <p:cNvSpPr/>
          <p:nvPr/>
        </p:nvSpPr>
        <p:spPr>
          <a:xfrm>
            <a:off x="5576341" y="2329835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6341" y="2353473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40" name="Shape 38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41" name="Image 0" descr="D:\ECNU\BOKE\Porcelain_Workshop_Code\deliverables\terra-course\assets\work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836737"/>
            <a:ext cx="5156200" cy="3222625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45" name="Text 42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WASD / 方向键移动，走近工位按 F。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50" name="Text 47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</a:t>
            </a:r>
            <a:endParaRPr lang="en-US" sz="1450" dirty="0"/>
          </a:p>
        </p:txBody>
      </p:sp>
      <p:sp>
        <p:nvSpPr>
          <p:cNvPr id="51" name="Text 48"/>
          <p:cNvSpPr/>
          <p:nvPr/>
        </p:nvSpPr>
        <p:spPr>
          <a:xfrm>
            <a:off x="442595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左键旋转、滚轮缩放；仰角 0°—66°。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55" name="Text 52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450" dirty="0"/>
          </a:p>
        </p:txBody>
      </p:sp>
      <p:sp>
        <p:nvSpPr>
          <p:cNvPr id="56" name="Text 53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右侧显示订单、金币、关卡与本场景贴画目标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塑形｜抓住边缘，连续推压或拉伸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0707" y="2259269"/>
            <a:ext cx="4727448" cy="28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3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粗塑成形 / 宽手掌</a:t>
            </a:r>
            <a:endParaRPr lang="en-US" sz="1523" dirty="0"/>
          </a:p>
        </p:txBody>
      </p:sp>
      <p:sp>
        <p:nvSpPr>
          <p:cNvPr id="13" name="Shape 11"/>
          <p:cNvSpPr/>
          <p:nvPr/>
        </p:nvSpPr>
        <p:spPr>
          <a:xfrm>
            <a:off x="730707" y="2617531"/>
            <a:ext cx="3072841" cy="1791315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2126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3545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964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6384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7803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9222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0641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707" y="2970366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707" y="3323201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707" y="3676035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707" y="4028870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7592" y="2758665"/>
            <a:ext cx="1729816" cy="1443908"/>
          </a:xfrm>
          <a:prstGeom prst="roundRect">
            <a:avLst>
              <a:gd name="adj" fmla="val 37381"/>
            </a:avLst>
          </a:prstGeom>
          <a:solidFill>
            <a:srgbClr val="FFFDF7"/>
          </a:solidFill>
          <a:ln w="12700">
            <a:solidFill>
              <a:srgbClr val="AAB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6010" y="3176639"/>
            <a:ext cx="762838" cy="762838"/>
          </a:xfrm>
          <a:prstGeom prst="ellipse">
            <a:avLst/>
          </a:prstGeom>
          <a:solidFill>
            <a:srgbClr val="E2EBF2"/>
          </a:solidFill>
          <a:ln w="12700">
            <a:solidFill>
              <a:srgbClr val="2854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0150" y="3562043"/>
            <a:ext cx="644652" cy="1270"/>
          </a:xfrm>
          <a:prstGeom prst="line">
            <a:avLst/>
          </a:prstGeom>
          <a:noFill/>
          <a:ln w="31750">
            <a:solidFill>
              <a:srgbClr val="28548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72153" y="2622960"/>
            <a:ext cx="1643863" cy="1177925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0758" y="3100644"/>
            <a:ext cx="1197978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独立参考图</a:t>
            </a:r>
            <a:endParaRPr lang="en-US" sz="1311" dirty="0"/>
          </a:p>
        </p:txBody>
      </p:sp>
      <p:sp>
        <p:nvSpPr>
          <p:cNvPr id="30" name="Text 28"/>
          <p:cNvSpPr/>
          <p:nvPr/>
        </p:nvSpPr>
        <p:spPr>
          <a:xfrm>
            <a:off x="4039921" y="3963731"/>
            <a:ext cx="1692212" cy="23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观察轮廓与纹样</a:t>
            </a:r>
            <a:endParaRPr lang="en-US" sz="1227" dirty="0"/>
          </a:p>
        </p:txBody>
      </p:sp>
      <p:sp>
        <p:nvSpPr>
          <p:cNvPr id="31" name="Text 29"/>
          <p:cNvSpPr/>
          <p:nvPr/>
        </p:nvSpPr>
        <p:spPr>
          <a:xfrm>
            <a:off x="4034549" y="4289425"/>
            <a:ext cx="1702956" cy="21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42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边缘提示 / 拖动方向</a:t>
            </a:r>
            <a:endParaRPr lang="en-US" sz="1142" dirty="0"/>
          </a:p>
        </p:txBody>
      </p:sp>
      <p:sp>
        <p:nvSpPr>
          <p:cNvPr id="32" name="Text 30"/>
          <p:cNvSpPr/>
          <p:nvPr/>
        </p:nvSpPr>
        <p:spPr>
          <a:xfrm>
            <a:off x="757568" y="4598834"/>
            <a:ext cx="859536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工具大小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17104" y="4680257"/>
            <a:ext cx="1214095" cy="1270"/>
          </a:xfrm>
          <a:prstGeom prst="line">
            <a:avLst/>
          </a:prstGeom>
          <a:noFill/>
          <a:ln w="38100">
            <a:solidFill>
              <a:srgbClr val="7C9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0593" y="4620547"/>
            <a:ext cx="118186" cy="118186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0873" y="4549980"/>
            <a:ext cx="1128141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24594" y="4609690"/>
            <a:ext cx="1020699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重做</a:t>
            </a:r>
            <a:endParaRPr lang="en-US" sz="1184" dirty="0"/>
          </a:p>
        </p:txBody>
      </p:sp>
      <p:sp>
        <p:nvSpPr>
          <p:cNvPr id="37" name="Shape 35"/>
          <p:cNvSpPr/>
          <p:nvPr/>
        </p:nvSpPr>
        <p:spPr>
          <a:xfrm>
            <a:off x="4351503" y="4734540"/>
            <a:ext cx="1364513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5224" y="4794250"/>
            <a:ext cx="1257071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保存并离开</a:t>
            </a:r>
            <a:endParaRPr lang="en-US" sz="1184" dirty="0"/>
          </a:p>
        </p:txBody>
      </p:sp>
      <p:sp>
        <p:nvSpPr>
          <p:cNvPr id="39" name="Shape 37"/>
          <p:cNvSpPr/>
          <p:nvPr/>
        </p:nvSpPr>
        <p:spPr>
          <a:xfrm>
            <a:off x="725335" y="2726096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335" y="2749733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41" name="Shape 39"/>
          <p:cNvSpPr/>
          <p:nvPr/>
        </p:nvSpPr>
        <p:spPr>
          <a:xfrm>
            <a:off x="3835781" y="2693527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5781" y="2717164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43" name="Shape 41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44" name="Image 0" descr="D:\ECNU\BOKE\Porcelain_Workshop_Code\deliverables\terra-course\assets\sha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283" y="1765300"/>
            <a:ext cx="3583634" cy="336550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48" name="Text 45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左右及上下外边缘可抓取；远离边缘时提示。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53" name="Text 50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</a:t>
            </a:r>
            <a:endParaRPr lang="en-US" sz="1450" dirty="0"/>
          </a:p>
        </p:txBody>
      </p:sp>
      <p:sp>
        <p:nvSpPr>
          <p:cNvPr id="54" name="Text 51"/>
          <p:cNvSpPr/>
          <p:nvPr/>
        </p:nvSpPr>
        <p:spPr>
          <a:xfrm>
            <a:off x="442595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本笔方向固定，作用范围平滑，颜色随形状移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动。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58" name="Text 55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</a:t>
            </a:r>
            <a:endParaRPr lang="en-US" sz="1450" dirty="0"/>
          </a:p>
        </p:txBody>
      </p:sp>
      <p:sp>
        <p:nvSpPr>
          <p:cNvPr id="59" name="Text 56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支持撤销 / 重做；拖回起点不新增撤销记录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上色｜参照纹样，完成自己的作品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0707" y="2259269"/>
            <a:ext cx="4727448" cy="28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3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手绘上色 / 瓷白与钴蓝</a:t>
            </a:r>
            <a:endParaRPr lang="en-US" sz="1523" dirty="0"/>
          </a:p>
        </p:txBody>
      </p:sp>
      <p:sp>
        <p:nvSpPr>
          <p:cNvPr id="13" name="Shape 11"/>
          <p:cNvSpPr/>
          <p:nvPr/>
        </p:nvSpPr>
        <p:spPr>
          <a:xfrm>
            <a:off x="730707" y="2617531"/>
            <a:ext cx="3072841" cy="1791315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2126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3545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964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6384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7803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9222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0641" y="2617531"/>
            <a:ext cx="1270" cy="1791315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707" y="2970366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707" y="3323201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707" y="3676035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707" y="4028870"/>
            <a:ext cx="3072841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7592" y="2758665"/>
            <a:ext cx="1729816" cy="1443908"/>
          </a:xfrm>
          <a:prstGeom prst="roundRect">
            <a:avLst>
              <a:gd name="adj" fmla="val 37381"/>
            </a:avLst>
          </a:prstGeom>
          <a:solidFill>
            <a:srgbClr val="FFFDF7"/>
          </a:solidFill>
          <a:ln w="12700">
            <a:solidFill>
              <a:srgbClr val="AAB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8336" y="3480619"/>
            <a:ext cx="1708328" cy="249698"/>
          </a:xfrm>
          <a:prstGeom prst="rect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72153" y="2622960"/>
            <a:ext cx="1643863" cy="1177925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0758" y="3100644"/>
            <a:ext cx="1197978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独立参考图</a:t>
            </a:r>
            <a:endParaRPr lang="en-US" sz="1311" dirty="0"/>
          </a:p>
        </p:txBody>
      </p:sp>
      <p:sp>
        <p:nvSpPr>
          <p:cNvPr id="29" name="Text 27"/>
          <p:cNvSpPr/>
          <p:nvPr/>
        </p:nvSpPr>
        <p:spPr>
          <a:xfrm>
            <a:off x="4039921" y="3963731"/>
            <a:ext cx="1692212" cy="23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观察轮廓与纹样</a:t>
            </a:r>
            <a:endParaRPr lang="en-US" sz="1227" dirty="0"/>
          </a:p>
        </p:txBody>
      </p:sp>
      <p:sp>
        <p:nvSpPr>
          <p:cNvPr id="30" name="Shape 28"/>
          <p:cNvSpPr/>
          <p:nvPr/>
        </p:nvSpPr>
        <p:spPr>
          <a:xfrm>
            <a:off x="4319270" y="4294853"/>
            <a:ext cx="236372" cy="236372"/>
          </a:xfrm>
          <a:prstGeom prst="ellipse">
            <a:avLst/>
          </a:prstGeom>
          <a:solidFill>
            <a:srgbClr val="FFFDF7"/>
          </a:solidFill>
          <a:ln w="12700">
            <a:solidFill>
              <a:srgbClr val="7C9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2015" y="4294853"/>
            <a:ext cx="236372" cy="236372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1201" y="4321994"/>
            <a:ext cx="617791" cy="20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8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色板</a:t>
            </a:r>
            <a:endParaRPr lang="en-US" sz="1058" dirty="0"/>
          </a:p>
        </p:txBody>
      </p:sp>
      <p:sp>
        <p:nvSpPr>
          <p:cNvPr id="33" name="Text 31"/>
          <p:cNvSpPr/>
          <p:nvPr/>
        </p:nvSpPr>
        <p:spPr>
          <a:xfrm>
            <a:off x="757568" y="4598834"/>
            <a:ext cx="859536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工具大小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17104" y="4680257"/>
            <a:ext cx="1214095" cy="1270"/>
          </a:xfrm>
          <a:prstGeom prst="line">
            <a:avLst/>
          </a:prstGeom>
          <a:noFill/>
          <a:ln w="38100">
            <a:solidFill>
              <a:srgbClr val="7C9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0593" y="4620547"/>
            <a:ext cx="118186" cy="118186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0873" y="4549980"/>
            <a:ext cx="1128141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4594" y="4609690"/>
            <a:ext cx="1020699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重做</a:t>
            </a:r>
            <a:endParaRPr lang="en-US" sz="1184" dirty="0"/>
          </a:p>
        </p:txBody>
      </p:sp>
      <p:sp>
        <p:nvSpPr>
          <p:cNvPr id="38" name="Shape 36"/>
          <p:cNvSpPr/>
          <p:nvPr/>
        </p:nvSpPr>
        <p:spPr>
          <a:xfrm>
            <a:off x="4351503" y="4734540"/>
            <a:ext cx="1364513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5224" y="4794250"/>
            <a:ext cx="1257071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保存并离开</a:t>
            </a:r>
            <a:endParaRPr lang="en-US" sz="1184" dirty="0"/>
          </a:p>
        </p:txBody>
      </p:sp>
      <p:sp>
        <p:nvSpPr>
          <p:cNvPr id="40" name="Shape 38"/>
          <p:cNvSpPr/>
          <p:nvPr/>
        </p:nvSpPr>
        <p:spPr>
          <a:xfrm>
            <a:off x="725335" y="2726096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335" y="2749733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42" name="Shape 40"/>
          <p:cNvSpPr/>
          <p:nvPr/>
        </p:nvSpPr>
        <p:spPr>
          <a:xfrm>
            <a:off x="3835781" y="2693527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35781" y="2717164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44" name="Shape 42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45" name="Image 0" descr="D:\ECNU\BOKE\Porcelain_Workshop_Code\deliverables\terra-course\assets\pain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283" y="1765300"/>
            <a:ext cx="3583634" cy="336550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49" name="Text 46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50" dirty="0"/>
          </a:p>
        </p:txBody>
      </p:sp>
      <p:sp>
        <p:nvSpPr>
          <p:cNvPr id="50" name="Text 47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瓷白与钴蓝画笔；滑块或 [ / ] 改变大小。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54" name="Text 51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450" dirty="0"/>
          </a:p>
        </p:txBody>
      </p:sp>
      <p:sp>
        <p:nvSpPr>
          <p:cNvPr id="55" name="Text 52"/>
          <p:cNvSpPr/>
          <p:nvPr/>
        </p:nvSpPr>
        <p:spPr>
          <a:xfrm>
            <a:off x="442595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上色只改变已有表面的颜色，不补回被刻去的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瓷泥。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59" name="Text 56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450" dirty="0"/>
          </a:p>
        </p:txBody>
      </p:sp>
      <p:sp>
        <p:nvSpPr>
          <p:cNvPr id="60" name="Text 57"/>
          <p:cNvSpPr/>
          <p:nvPr/>
        </p:nvSpPr>
        <p:spPr>
          <a:xfrm>
            <a:off x="81534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保存并离开或按 Esc，带着作品返回工坊。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烧窑｜在目标区间锁定火候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3521" y="2318979"/>
            <a:ext cx="2256282" cy="28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3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烧制前准备</a:t>
            </a:r>
            <a:endParaRPr lang="en-US" sz="1523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5429" y="3030077"/>
            <a:ext cx="1504188" cy="122135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6010" y="4224286"/>
            <a:ext cx="1289304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当前作品</a:t>
            </a:r>
            <a:endParaRPr lang="en-US" sz="118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6827" y="2432972"/>
            <a:ext cx="2385212" cy="19650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6594" y="3480619"/>
            <a:ext cx="1450467" cy="28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23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火候判定</a:t>
            </a:r>
            <a:endParaRPr lang="en-US" sz="1523" dirty="0"/>
          </a:p>
        </p:txBody>
      </p:sp>
      <p:sp>
        <p:nvSpPr>
          <p:cNvPr id="17" name="Text 13"/>
          <p:cNvSpPr/>
          <p:nvPr/>
        </p:nvSpPr>
        <p:spPr>
          <a:xfrm>
            <a:off x="3244850" y="4343707"/>
            <a:ext cx="2191817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/ 成功 / 完美</a:t>
            </a:r>
            <a:endParaRPr lang="en-US" sz="1184" dirty="0"/>
          </a:p>
        </p:txBody>
      </p:sp>
      <p:sp>
        <p:nvSpPr>
          <p:cNvPr id="18" name="Shape 14"/>
          <p:cNvSpPr/>
          <p:nvPr/>
        </p:nvSpPr>
        <p:spPr>
          <a:xfrm>
            <a:off x="865010" y="4696542"/>
            <a:ext cx="1477328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8731" y="4756252"/>
            <a:ext cx="1369886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开始烧制</a:t>
            </a:r>
            <a:endParaRPr lang="en-US" sz="1184" dirty="0"/>
          </a:p>
        </p:txBody>
      </p:sp>
      <p:sp>
        <p:nvSpPr>
          <p:cNvPr id="20" name="Shape 16"/>
          <p:cNvSpPr/>
          <p:nvPr/>
        </p:nvSpPr>
        <p:spPr>
          <a:xfrm>
            <a:off x="3099803" y="4696542"/>
            <a:ext cx="2224049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53524" y="4756252"/>
            <a:ext cx="2116607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空格 · 锁定火候</a:t>
            </a:r>
            <a:endParaRPr lang="en-US" sz="1184" dirty="0"/>
          </a:p>
        </p:txBody>
      </p:sp>
      <p:sp>
        <p:nvSpPr>
          <p:cNvPr id="22" name="Shape 18"/>
          <p:cNvSpPr/>
          <p:nvPr/>
        </p:nvSpPr>
        <p:spPr>
          <a:xfrm>
            <a:off x="5178806" y="2867230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78806" y="2890867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24" name="Shape 20"/>
          <p:cNvSpPr/>
          <p:nvPr/>
        </p:nvSpPr>
        <p:spPr>
          <a:xfrm>
            <a:off x="5388318" y="4729111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88318" y="4752749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26" name="Shape 22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27" name="Image 2" descr="D:\ECNU\BOKE\Porcelain_Workshop_Code\deliverables\terra-course\assets\kil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643" y="1765300"/>
            <a:ext cx="2608915" cy="33655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1" name="Text 26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6985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 9 秒：50%—80% 成功；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62%—70% 完美（边界计入）。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36" name="Text 31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50" dirty="0"/>
          </a:p>
        </p:txBody>
      </p:sp>
      <p:sp>
        <p:nvSpPr>
          <p:cNvPr id="37" name="Text 32"/>
          <p:cNvSpPr/>
          <p:nvPr/>
        </p:nvSpPr>
        <p:spPr>
          <a:xfrm>
            <a:off x="442595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按一次空格或触屏按钮；超时记为一般。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1" name="Text 36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450" dirty="0"/>
          </a:p>
        </p:txBody>
      </p:sp>
      <p:sp>
        <p:nvSpPr>
          <p:cNvPr id="42" name="Text 37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面板关闭即暂停；结果会保存。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实际修改作品后需重新烧制。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结算｜看懂分数，也看懂奖励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4428" y="2286410"/>
            <a:ext cx="4297680" cy="31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作品结算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9800" y="2736952"/>
            <a:ext cx="1423607" cy="1405910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593" y="2736952"/>
            <a:ext cx="1423607" cy="1405910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1545" y="3306916"/>
            <a:ext cx="1020699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我的作品</a:t>
            </a:r>
            <a:endParaRPr lang="en-US" sz="1311" dirty="0"/>
          </a:p>
        </p:txBody>
      </p:sp>
      <p:sp>
        <p:nvSpPr>
          <p:cNvPr id="16" name="Text 14"/>
          <p:cNvSpPr/>
          <p:nvPr/>
        </p:nvSpPr>
        <p:spPr>
          <a:xfrm>
            <a:off x="2530361" y="3306916"/>
            <a:ext cx="1020699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订单参考</a:t>
            </a:r>
            <a:endParaRPr lang="en-US" sz="1311" dirty="0"/>
          </a:p>
        </p:txBody>
      </p:sp>
      <p:sp>
        <p:nvSpPr>
          <p:cNvPr id="17" name="Shape 15"/>
          <p:cNvSpPr/>
          <p:nvPr/>
        </p:nvSpPr>
        <p:spPr>
          <a:xfrm>
            <a:off x="3943223" y="2720668"/>
            <a:ext cx="1713700" cy="1433052"/>
          </a:xfrm>
          <a:prstGeom prst="rect">
            <a:avLst/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1828" y="2905227"/>
            <a:ext cx="1160374" cy="24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69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</a:t>
            </a:r>
            <a:endParaRPr lang="en-US" sz="1269" dirty="0"/>
          </a:p>
        </p:txBody>
      </p:sp>
      <p:sp>
        <p:nvSpPr>
          <p:cNvPr id="19" name="Text 17"/>
          <p:cNvSpPr/>
          <p:nvPr/>
        </p:nvSpPr>
        <p:spPr>
          <a:xfrm>
            <a:off x="4131247" y="3230921"/>
            <a:ext cx="1332281" cy="60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173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173" dirty="0"/>
          </a:p>
        </p:txBody>
      </p:sp>
      <p:sp>
        <p:nvSpPr>
          <p:cNvPr id="20" name="Text 18"/>
          <p:cNvSpPr/>
          <p:nvPr/>
        </p:nvSpPr>
        <p:spPr>
          <a:xfrm>
            <a:off x="4056037" y="3800885"/>
            <a:ext cx="1557909" cy="19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15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 65% + 上色 35%</a:t>
            </a:r>
            <a:endParaRPr lang="en-US" sz="1015" dirty="0"/>
          </a:p>
        </p:txBody>
      </p:sp>
      <p:sp>
        <p:nvSpPr>
          <p:cNvPr id="21" name="Shape 19"/>
          <p:cNvSpPr/>
          <p:nvPr/>
        </p:nvSpPr>
        <p:spPr>
          <a:xfrm>
            <a:off x="800545" y="4316566"/>
            <a:ext cx="4845634" cy="336550"/>
          </a:xfrm>
          <a:prstGeom prst="rect">
            <a:avLst/>
          </a:prstGeom>
          <a:solidFill>
            <a:srgbClr val="E7EDE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568" y="4392561"/>
            <a:ext cx="4474959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基础奖励 100  +  完美加成 25  =  125 币</a:t>
            </a:r>
            <a:endParaRPr lang="en-US" sz="1311" dirty="0"/>
          </a:p>
        </p:txBody>
      </p:sp>
      <p:sp>
        <p:nvSpPr>
          <p:cNvPr id="23" name="Shape 21"/>
          <p:cNvSpPr/>
          <p:nvPr/>
        </p:nvSpPr>
        <p:spPr>
          <a:xfrm>
            <a:off x="3905618" y="4750824"/>
            <a:ext cx="1740560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9339" y="4810535"/>
            <a:ext cx="1633118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继续下一关 / 重试</a:t>
            </a:r>
            <a:endParaRPr lang="en-US" sz="1184" dirty="0"/>
          </a:p>
        </p:txBody>
      </p:sp>
      <p:sp>
        <p:nvSpPr>
          <p:cNvPr id="25" name="Shape 23"/>
          <p:cNvSpPr/>
          <p:nvPr/>
        </p:nvSpPr>
        <p:spPr>
          <a:xfrm>
            <a:off x="5420551" y="2731524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0551" y="2755161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27" name="Shape 25"/>
          <p:cNvSpPr/>
          <p:nvPr/>
        </p:nvSpPr>
        <p:spPr>
          <a:xfrm>
            <a:off x="752196" y="4359992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196" y="4383629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29" name="Shape 27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30" name="Image 0" descr="D:\ECNU\BOKE\Porcelain_Workshop_Code\deliverables\terra-course\assets\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573" y="1765300"/>
            <a:ext cx="3315054" cy="33655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4" name="Text 31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 65% + 上色 35%，达到 80% 通关。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39" name="Text 36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442595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基础金币 × 火候倍率：1 / 1.1 / 1.25。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4" name="Text 41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展示基础奖励与加成；未通过可重试，金币保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贴花与收藏｜把完成感留在瓷器上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940" y="2313551"/>
            <a:ext cx="4867123" cy="320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92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为白瓷碗贴上新纹样</a:t>
            </a:r>
            <a:endParaRPr lang="en-US" sz="1692" dirty="0"/>
          </a:p>
        </p:txBody>
      </p:sp>
      <p:sp>
        <p:nvSpPr>
          <p:cNvPr id="13" name="Shape 11"/>
          <p:cNvSpPr/>
          <p:nvPr/>
        </p:nvSpPr>
        <p:spPr>
          <a:xfrm>
            <a:off x="762940" y="2677242"/>
            <a:ext cx="2900934" cy="1954161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1638" y="2872658"/>
            <a:ext cx="1810398" cy="159047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868014" y="2682670"/>
            <a:ext cx="1810398" cy="928227"/>
          </a:xfrm>
          <a:prstGeom prst="rect">
            <a:avLst/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56037" y="2997507"/>
            <a:ext cx="1493444" cy="24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已购买的场景贴画</a:t>
            </a:r>
            <a:endParaRPr lang="en-US" sz="1311" dirty="0"/>
          </a:p>
        </p:txBody>
      </p:sp>
      <p:sp>
        <p:nvSpPr>
          <p:cNvPr id="17" name="Text 14"/>
          <p:cNvSpPr/>
          <p:nvPr/>
        </p:nvSpPr>
        <p:spPr>
          <a:xfrm>
            <a:off x="3894874" y="3784600"/>
            <a:ext cx="1719072" cy="62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选择纹样</a:t>
            </a:r>
            <a:endParaRPr lang="en-US" sz="1184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点击瓷碗或贴花按钮</a:t>
            </a:r>
            <a:endParaRPr lang="en-US" sz="1184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收入藏品</a:t>
            </a:r>
            <a:endParaRPr lang="en-US" sz="1184" dirty="0"/>
          </a:p>
        </p:txBody>
      </p:sp>
      <p:sp>
        <p:nvSpPr>
          <p:cNvPr id="18" name="Shape 15"/>
          <p:cNvSpPr/>
          <p:nvPr/>
        </p:nvSpPr>
        <p:spPr>
          <a:xfrm>
            <a:off x="3884130" y="4685685"/>
            <a:ext cx="1799653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7851" y="4745396"/>
            <a:ext cx="1692212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贴到碗上</a:t>
            </a:r>
            <a:endParaRPr lang="en-US" sz="1184" dirty="0"/>
          </a:p>
        </p:txBody>
      </p:sp>
      <p:sp>
        <p:nvSpPr>
          <p:cNvPr id="20" name="Text 17"/>
          <p:cNvSpPr/>
          <p:nvPr/>
        </p:nvSpPr>
        <p:spPr>
          <a:xfrm>
            <a:off x="1036917" y="4772537"/>
            <a:ext cx="2524887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4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可拖动查看成品</a:t>
            </a:r>
            <a:endParaRPr lang="en-US" sz="1184" dirty="0"/>
          </a:p>
        </p:txBody>
      </p:sp>
      <p:sp>
        <p:nvSpPr>
          <p:cNvPr id="21" name="Shape 18"/>
          <p:cNvSpPr/>
          <p:nvPr/>
        </p:nvSpPr>
        <p:spPr>
          <a:xfrm>
            <a:off x="5560225" y="2688098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60225" y="2711736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46" dirty="0"/>
          </a:p>
        </p:txBody>
      </p:sp>
      <p:sp>
        <p:nvSpPr>
          <p:cNvPr id="23" name="Shape 20"/>
          <p:cNvSpPr/>
          <p:nvPr/>
        </p:nvSpPr>
        <p:spPr>
          <a:xfrm>
            <a:off x="3594037" y="3730318"/>
            <a:ext cx="214884" cy="214884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94037" y="3753955"/>
            <a:ext cx="214884" cy="16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46" dirty="0"/>
          </a:p>
        </p:txBody>
      </p:sp>
      <p:sp>
        <p:nvSpPr>
          <p:cNvPr id="25" name="Shape 22"/>
          <p:cNvSpPr/>
          <p:nvPr/>
        </p:nvSpPr>
        <p:spPr>
          <a:xfrm>
            <a:off x="6426200" y="1714500"/>
            <a:ext cx="5257800" cy="3467100"/>
          </a:xfrm>
          <a:prstGeom prst="roundRect">
            <a:avLst>
              <a:gd name="adj" fmla="val 293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26" name="Image 1" descr="D:\ECNU\BOKE\Porcelain_Workshop_Code\deliverables\terra-course\assets\de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811517"/>
            <a:ext cx="5156200" cy="327306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0" name="Text 26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698500" y="5962650"/>
            <a:ext cx="3321050" cy="24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本场景五关通过，且余额达到 400 币。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35" name="Text 31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贴花</a:t>
            </a:r>
            <a:endParaRPr lang="en-US" sz="1450" dirty="0"/>
          </a:p>
        </p:txBody>
      </p:sp>
      <p:sp>
        <p:nvSpPr>
          <p:cNvPr id="36" name="Text 32"/>
          <p:cNvSpPr/>
          <p:nvPr/>
        </p:nvSpPr>
        <p:spPr>
          <a:xfrm>
            <a:off x="442595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购买后先选贴画，再点击瓷碗或“贴到碗上”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0" name="Text 36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</a:t>
            </a:r>
            <a:endParaRPr lang="en-US" sz="1450" dirty="0"/>
          </a:p>
        </p:txBody>
      </p:sp>
      <p:sp>
        <p:nvSpPr>
          <p:cNvPr id="41" name="Text 37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完成贴花后才可进入下一站；最终集齐四件成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41300"/>
            <a:ext cx="76200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游戏原型图集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350500" y="241300"/>
            <a:ext cx="12827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800" y="647700"/>
            <a:ext cx="11049000" cy="54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移动端｜保留关键操作，适配竖屏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8800" y="125730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000" y="129540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线框结构 · 可编辑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7150" y="12573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3350" y="1295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 · 实际界面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00" y="1765300"/>
            <a:ext cx="5372100" cy="3365500"/>
          </a:xfrm>
          <a:prstGeom prst="roundRect">
            <a:avLst>
              <a:gd name="adj" fmla="val 301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1765300"/>
            <a:ext cx="5372100" cy="347406"/>
          </a:xfrm>
          <a:prstGeom prst="roundRect">
            <a:avLst>
              <a:gd name="adj" fmla="val 18278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30" y="1846723"/>
            <a:ext cx="3867912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2175" y="2204986"/>
            <a:ext cx="1665351" cy="2790108"/>
          </a:xfrm>
          <a:prstGeom prst="roundRect">
            <a:avLst>
              <a:gd name="adj" fmla="val 10676"/>
            </a:avLst>
          </a:prstGeom>
          <a:solidFill>
            <a:srgbClr val="F5F1E7"/>
          </a:solidFill>
          <a:ln w="12700">
            <a:solidFill>
              <a:srgbClr val="8EA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9617" y="2324407"/>
            <a:ext cx="1428979" cy="18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73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    地图 / 帮助</a:t>
            </a:r>
            <a:endParaRPr lang="en-US" sz="973" dirty="0"/>
          </a:p>
        </p:txBody>
      </p:sp>
      <p:sp>
        <p:nvSpPr>
          <p:cNvPr id="14" name="Shape 12"/>
          <p:cNvSpPr/>
          <p:nvPr/>
        </p:nvSpPr>
        <p:spPr>
          <a:xfrm>
            <a:off x="2519617" y="2557821"/>
            <a:ext cx="1439723" cy="466827"/>
          </a:xfrm>
          <a:prstGeom prst="rect">
            <a:avLst/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2268" y="2709811"/>
            <a:ext cx="1128141" cy="20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8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订单与进度</a:t>
            </a:r>
            <a:endParaRPr lang="en-US" sz="1058" dirty="0"/>
          </a:p>
        </p:txBody>
      </p:sp>
      <p:sp>
        <p:nvSpPr>
          <p:cNvPr id="16" name="Shape 14"/>
          <p:cNvSpPr/>
          <p:nvPr/>
        </p:nvSpPr>
        <p:spPr>
          <a:xfrm>
            <a:off x="2519617" y="3116928"/>
            <a:ext cx="1439723" cy="1080217"/>
          </a:xfrm>
          <a:prstGeom prst="rect">
            <a:avLst/>
          </a:prstGeom>
          <a:solidFill>
            <a:srgbClr val="E7EDE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6733" y="3529473"/>
            <a:ext cx="966978" cy="29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65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工坊</a:t>
            </a:r>
            <a:endParaRPr lang="en-US" sz="1565" dirty="0"/>
          </a:p>
        </p:txBody>
      </p:sp>
      <p:sp>
        <p:nvSpPr>
          <p:cNvPr id="18" name="Shape 16"/>
          <p:cNvSpPr/>
          <p:nvPr/>
        </p:nvSpPr>
        <p:spPr>
          <a:xfrm>
            <a:off x="2514244" y="4300281"/>
            <a:ext cx="676885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7965" y="4359992"/>
            <a:ext cx="569443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</a:t>
            </a:r>
            <a:endParaRPr lang="en-US" sz="1184" dirty="0"/>
          </a:p>
        </p:txBody>
      </p:sp>
      <p:sp>
        <p:nvSpPr>
          <p:cNvPr id="20" name="Shape 18"/>
          <p:cNvSpPr/>
          <p:nvPr/>
        </p:nvSpPr>
        <p:spPr>
          <a:xfrm>
            <a:off x="3277083" y="4300281"/>
            <a:ext cx="676885" cy="309409"/>
          </a:xfrm>
          <a:prstGeom prst="roundRect">
            <a:avLst>
              <a:gd name="adj" fmla="val 20523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0804" y="4359992"/>
            <a:ext cx="569443" cy="22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4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 F</a:t>
            </a:r>
            <a:endParaRPr lang="en-US" sz="1184" dirty="0"/>
          </a:p>
        </p:txBody>
      </p:sp>
      <p:sp>
        <p:nvSpPr>
          <p:cNvPr id="22" name="Text 20"/>
          <p:cNvSpPr/>
          <p:nvPr/>
        </p:nvSpPr>
        <p:spPr>
          <a:xfrm>
            <a:off x="1805127" y="4761681"/>
            <a:ext cx="2986888" cy="20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烧窑提供触屏判定按钮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172" y="3068074"/>
            <a:ext cx="1386002" cy="31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竖屏布局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84428" y="3469763"/>
            <a:ext cx="1369886" cy="471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1311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11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使用可点击控件</a:t>
            </a:r>
            <a:endParaRPr lang="en-US" sz="1311" dirty="0"/>
          </a:p>
        </p:txBody>
      </p:sp>
      <p:sp>
        <p:nvSpPr>
          <p:cNvPr id="25" name="Text 23"/>
          <p:cNvSpPr/>
          <p:nvPr/>
        </p:nvSpPr>
        <p:spPr>
          <a:xfrm>
            <a:off x="4394479" y="3100644"/>
            <a:ext cx="1353769" cy="29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65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面板可滚动</a:t>
            </a:r>
            <a:endParaRPr lang="en-US" sz="1565" dirty="0"/>
          </a:p>
        </p:txBody>
      </p:sp>
      <p:sp>
        <p:nvSpPr>
          <p:cNvPr id="26" name="Text 24"/>
          <p:cNvSpPr/>
          <p:nvPr/>
        </p:nvSpPr>
        <p:spPr>
          <a:xfrm>
            <a:off x="4394479" y="3469763"/>
            <a:ext cx="1380630" cy="44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保留制作区、</a:t>
            </a:r>
            <a:endParaRPr lang="en-US" sz="1227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27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参考图和操作入口</a:t>
            </a:r>
            <a:endParaRPr lang="en-US" sz="1227" dirty="0"/>
          </a:p>
        </p:txBody>
      </p:sp>
      <p:pic>
        <p:nvPicPr>
          <p:cNvPr id="27" name="Image 0" descr="D:\ECNU\BOKE\Porcelain_Workshop_Code\deliverables\terra-course\assets\mobil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854" y="1676400"/>
            <a:ext cx="1640241" cy="3549650"/>
          </a:xfrm>
          <a:prstGeom prst="rect">
            <a:avLst/>
          </a:prstGeom>
        </p:spPr>
      </p:pic>
      <p:pic>
        <p:nvPicPr>
          <p:cNvPr id="28" name="Image 1" descr="D:\ECNU\BOKE\Porcelain_Workshop_Code\deliverables\terra-course\assets\mobile-kil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204" y="1676400"/>
            <a:ext cx="1640241" cy="354965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588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731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31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25" dirty="0"/>
          </a:p>
        </p:txBody>
      </p:sp>
      <p:sp>
        <p:nvSpPr>
          <p:cNvPr id="32" name="Text 28"/>
          <p:cNvSpPr/>
          <p:nvPr/>
        </p:nvSpPr>
        <p:spPr>
          <a:xfrm>
            <a:off x="10350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6985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订单、工坊、操作键分区；制作面板支持滚动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28625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40055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0055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25" dirty="0"/>
          </a:p>
        </p:txBody>
      </p:sp>
      <p:sp>
        <p:nvSpPr>
          <p:cNvPr id="37" name="Text 33"/>
          <p:cNvSpPr/>
          <p:nvPr/>
        </p:nvSpPr>
        <p:spPr>
          <a:xfrm>
            <a:off x="476250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50" dirty="0"/>
          </a:p>
        </p:txBody>
      </p:sp>
      <p:sp>
        <p:nvSpPr>
          <p:cNvPr id="38" name="Text 34"/>
          <p:cNvSpPr/>
          <p:nvPr/>
        </p:nvSpPr>
        <p:spPr>
          <a:xfrm>
            <a:off x="442595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屏幕方向键与“操作 F”；烧窑提供点击按钮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8013700" y="5486400"/>
            <a:ext cx="3606800" cy="1003300"/>
          </a:xfrm>
          <a:prstGeom prst="roundRect">
            <a:avLst>
              <a:gd name="adj" fmla="val 886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128000" y="5613400"/>
            <a:ext cx="234950" cy="23495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128000" y="5639245"/>
            <a:ext cx="234950" cy="17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25" dirty="0"/>
          </a:p>
        </p:txBody>
      </p:sp>
      <p:sp>
        <p:nvSpPr>
          <p:cNvPr id="42" name="Text 38"/>
          <p:cNvSpPr/>
          <p:nvPr/>
        </p:nvSpPr>
        <p:spPr>
          <a:xfrm>
            <a:off x="8489950" y="5613400"/>
            <a:ext cx="29845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</a:t>
            </a:r>
            <a:endParaRPr lang="en-US" sz="1450" dirty="0"/>
          </a:p>
        </p:txBody>
      </p:sp>
      <p:sp>
        <p:nvSpPr>
          <p:cNvPr id="43" name="Text 39"/>
          <p:cNvSpPr/>
          <p:nvPr/>
        </p:nvSpPr>
        <p:spPr>
          <a:xfrm>
            <a:off x="8153400" y="5962650"/>
            <a:ext cx="3321050" cy="46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辅助信息至少 12px；触屏直接显示器物简介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课程作品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景德镇瓷器之旅_游戏原型图集</dc:title>
  <dc:subject>当前游戏的交互流程、页面线框与实际界面对照，共 10 页</dc:subject>
  <dc:creator>Terra · 景德镇瓷器之旅</dc:creator>
  <cp:lastModifiedBy>Terra · 景德镇瓷器之旅</cp:lastModifiedBy>
  <cp:revision>1</cp:revision>
  <dcterms:created xsi:type="dcterms:W3CDTF">2026-10-24T11:02:22Z</dcterms:created>
  <dcterms:modified xsi:type="dcterms:W3CDTF">2026-10-24T11:02:22Z</dcterms:modified>
</cp:coreProperties>
</file>